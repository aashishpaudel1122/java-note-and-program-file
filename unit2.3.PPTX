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9"/>
  </p:notesMasterIdLst>
  <p:sldIdLst>
    <p:sldId id="256" r:id="rId2"/>
    <p:sldId id="289" r:id="rId3"/>
    <p:sldId id="290" r:id="rId4"/>
    <p:sldId id="292" r:id="rId5"/>
    <p:sldId id="293" r:id="rId6"/>
    <p:sldId id="294" r:id="rId7"/>
    <p:sldId id="291" r:id="rId8"/>
    <p:sldId id="275" r:id="rId9"/>
    <p:sldId id="276" r:id="rId10"/>
    <p:sldId id="277" r:id="rId11"/>
    <p:sldId id="278" r:id="rId12"/>
    <p:sldId id="279" r:id="rId13"/>
    <p:sldId id="295" r:id="rId14"/>
    <p:sldId id="296" r:id="rId15"/>
    <p:sldId id="297" r:id="rId16"/>
    <p:sldId id="298" r:id="rId17"/>
    <p:sldId id="299" r:id="rId18"/>
    <p:sldId id="307" r:id="rId19"/>
    <p:sldId id="300" r:id="rId20"/>
    <p:sldId id="301" r:id="rId21"/>
    <p:sldId id="302" r:id="rId22"/>
    <p:sldId id="304" r:id="rId23"/>
    <p:sldId id="303" r:id="rId24"/>
    <p:sldId id="305" r:id="rId25"/>
    <p:sldId id="306" r:id="rId26"/>
    <p:sldId id="280" r:id="rId27"/>
    <p:sldId id="281" r:id="rId2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964" autoAdjust="0"/>
    <p:restoredTop sz="94660"/>
  </p:normalViewPr>
  <p:slideViewPr>
    <p:cSldViewPr>
      <p:cViewPr varScale="1">
        <p:scale>
          <a:sx n="59" d="100"/>
          <a:sy n="59" d="100"/>
        </p:scale>
        <p:origin x="1568" y="68"/>
      </p:cViewPr>
      <p:guideLst>
        <p:guide orient="horz" pos="2160"/>
        <p:guide pos="2880"/>
      </p:guideLst>
    </p:cSldViewPr>
  </p:slideViewPr>
  <p:notesTextViewPr>
    <p:cViewPr>
      <p:scale>
        <a:sx n="50" d="100"/>
        <a:sy n="5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BC23FF1-4433-4599-81AB-6E6F66A2D281}" type="datetimeFigureOut">
              <a:rPr lang="en-US" smtClean="0"/>
              <a:t>12/21/2022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5CF576-6883-4DD9-BA96-3BA4FAEC31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160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5CF576-6883-4DD9-BA96-3BA4FAEC3163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9176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12/21/2022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12/21/2022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12/21/2022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12/21/2022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12/21/2022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12/21/2022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12/21/2022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javatpoint.com/java-jbutton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www.javatpoint.com/java-jslider" TargetMode="Externa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11162"/>
          </a:xfrm>
        </p:spPr>
        <p:txBody>
          <a:bodyPr>
            <a:noAutofit/>
          </a:bodyPr>
          <a:lstStyle/>
          <a:p>
            <a:r>
              <a:rPr lang="en-US" sz="2400" b="1" dirty="0"/>
              <a:t> Unit 2: User Interface Components with Swing (10 Hrs.) 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57200" y="762000"/>
            <a:ext cx="8229600" cy="5867400"/>
          </a:xfrm>
        </p:spPr>
        <p:txBody>
          <a:bodyPr>
            <a:normAutofit fontScale="85000" lnSpcReduction="20000"/>
          </a:bodyPr>
          <a:lstStyle/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2.1. Introduction: Concept of AWT, AWT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vs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Swing, Java Applets, Applet Life Cycle, Swing Class Hierarchy, Component and Containers </a:t>
            </a:r>
          </a:p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2.2. Layout Management: No Layout, Flow layout, Border Layout, Grid Layout,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Gridbag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Layout, Group Layout. </a:t>
            </a:r>
          </a:p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2.3. GUI Controls: Text Fields, Password Fields, Text Areas, Scroll Pane, Labels, Check Boxes, Radio Buttons, Borders, Combo Boxes, Sliders </a:t>
            </a:r>
          </a:p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2.4. Menu, Menu Item, Icons in Menu Items, Check Box and Radio Buttons in Menu Items, Pop-up Menus, Keyboard Mnemonics and Accelerators, Enabling and Disabling Menu Items, Toolbars, Tooltips </a:t>
            </a:r>
          </a:p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2.5. Option Dialogs, Creating Dialogs, File Choosers, Color Choosers, Internal Frames, Frames, Tables, Trees, and Tables. </a:t>
            </a:r>
          </a:p>
          <a:p>
            <a:pPr algn="just"/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157E19-51D2-99C0-A0A1-C1BF296916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txBody>
          <a:bodyPr>
            <a:normAutofit fontScale="90000"/>
          </a:bodyPr>
          <a:lstStyle/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2.3. GUI Controls: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A5DB9A-16E5-5414-1CDC-6A78E03524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5440362"/>
          </a:xfrm>
        </p:spPr>
        <p:txBody>
          <a:bodyPr>
            <a:normAutofit fontScale="92500" lnSpcReduction="2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Text Fields,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Buttons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Password Fields,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Text Areas,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Scroll Pane,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Labels,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Check Boxes,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Radio Buttons,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Borders,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Combo Boxes,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Sliders 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54911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CD16F9-BEBF-A1F3-425C-6F41C9715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579437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JTextField</a:t>
            </a:r>
            <a:r>
              <a:rPr lang="en-US" dirty="0"/>
              <a:t> and </a:t>
            </a:r>
            <a:r>
              <a:rPr lang="en-US" dirty="0" err="1"/>
              <a:t>JPasswordField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E653E4-EB5E-ABE6-4E2C-8BD49A87B5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731837"/>
            <a:ext cx="8915400" cy="5973763"/>
          </a:xfrm>
        </p:spPr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US" b="0" i="1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b="0" i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i="1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javax</a:t>
            </a:r>
            <a:r>
              <a:rPr lang="en-US" b="0" i="1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i="1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swing</a:t>
            </a:r>
            <a:r>
              <a:rPr lang="en-US" b="0" i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.*;</a:t>
            </a:r>
          </a:p>
          <a:p>
            <a:pPr marL="0" indent="0">
              <a:buNone/>
            </a:pPr>
            <a:r>
              <a:rPr lang="en-US" b="0" i="1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b="0" i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i="1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b="0" i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i="1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JtextandJpass</a:t>
            </a:r>
            <a:r>
              <a:rPr lang="en-US" b="0" i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 marL="0" indent="0">
              <a:buNone/>
            </a:pPr>
            <a:r>
              <a:rPr lang="en-US" b="0" i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i="1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JFrame</a:t>
            </a:r>
            <a:r>
              <a:rPr lang="en-US" b="0" i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i="1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b="0" i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						</a:t>
            </a:r>
            <a:r>
              <a:rPr lang="en-US" sz="3800" b="1" i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Output:</a:t>
            </a:r>
            <a:endParaRPr lang="en-US" b="1" i="1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b="0" i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i="1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JTextField</a:t>
            </a:r>
            <a:r>
              <a:rPr lang="en-US" b="0" i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i="1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b="0" i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b="0" i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i="1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JPasswordField</a:t>
            </a:r>
            <a:r>
              <a:rPr lang="en-US" b="0" i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i="1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pass</a:t>
            </a:r>
            <a:r>
              <a:rPr lang="en-US" b="0" i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b="0" i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i="1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JtextandJpass</a:t>
            </a:r>
            <a:r>
              <a:rPr lang="en-US" b="0" i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(){</a:t>
            </a:r>
          </a:p>
          <a:p>
            <a:pPr marL="0" indent="0">
              <a:buNone/>
            </a:pPr>
            <a:r>
              <a:rPr lang="en-US" b="0" i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i="1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b="0" i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i="1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b="0" i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i="1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JFrame</a:t>
            </a:r>
            <a:r>
              <a:rPr lang="en-US" b="0" i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i="1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i="1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TextField</a:t>
            </a:r>
            <a:r>
              <a:rPr lang="en-US" b="0" i="1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and </a:t>
            </a:r>
            <a:r>
              <a:rPr lang="en-US" b="0" i="1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PassWordField</a:t>
            </a:r>
            <a:r>
              <a:rPr lang="en-US" b="0" i="1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i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US" b="0" i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i="1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b="0" i="1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i="1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setSize</a:t>
            </a:r>
            <a:r>
              <a:rPr lang="en-US" b="0" i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i="1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500</a:t>
            </a:r>
            <a:r>
              <a:rPr lang="en-US" b="0" i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b="0" i="1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500</a:t>
            </a:r>
            <a:r>
              <a:rPr lang="en-US" b="0" i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br>
              <a:rPr lang="en-US" b="0" i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i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i="1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b="0" i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i="1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b="0" i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i="1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JTextField</a:t>
            </a:r>
            <a:r>
              <a:rPr lang="en-US" b="0" i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 marL="0" indent="0">
              <a:buNone/>
            </a:pPr>
            <a:r>
              <a:rPr lang="en-US" b="0" i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i="1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b="0" i="1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i="1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setBounds</a:t>
            </a:r>
            <a:r>
              <a:rPr lang="en-US" b="0" i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i="1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en-US" b="0" i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b="0" i="1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en-US" b="0" i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b="0" i="1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200</a:t>
            </a:r>
            <a:r>
              <a:rPr lang="en-US" b="0" i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b="0" i="1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50</a:t>
            </a:r>
            <a:r>
              <a:rPr lang="en-US" b="0" i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US" b="0" i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i="1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b="0" i="1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i="1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b="0" i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i="1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b="0" i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br>
              <a:rPr lang="en-US" b="0" i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i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i="1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pass</a:t>
            </a:r>
            <a:r>
              <a:rPr lang="en-US" b="0" i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i="1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b="0" i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i="1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JPasswordField</a:t>
            </a:r>
            <a:r>
              <a:rPr lang="en-US" b="0" i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 marL="0" indent="0">
              <a:buNone/>
            </a:pPr>
            <a:r>
              <a:rPr lang="en-US" b="0" i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i="1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pass</a:t>
            </a:r>
            <a:r>
              <a:rPr lang="en-US" b="0" i="1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i="1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setBounds</a:t>
            </a:r>
            <a:r>
              <a:rPr lang="en-US" b="0" i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i="1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en-US" b="0" i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b="0" i="1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200</a:t>
            </a:r>
            <a:r>
              <a:rPr lang="en-US" b="0" i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b="0" i="1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200</a:t>
            </a:r>
            <a:r>
              <a:rPr lang="en-US" b="0" i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b="0" i="1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50</a:t>
            </a:r>
            <a:r>
              <a:rPr lang="en-US" b="0" i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US" b="0" i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i="1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b="0" i="1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i="1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b="0" i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i="1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pass</a:t>
            </a:r>
            <a:r>
              <a:rPr lang="en-US" b="0" i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br>
              <a:rPr lang="en-US" b="0" i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i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i="1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b="0" i="1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i="1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setLayout</a:t>
            </a:r>
            <a:r>
              <a:rPr lang="en-US" b="0" i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i="1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b="0" i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US" b="0" i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i="1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b="0" i="1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i="1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setDefaultCloseOperation</a:t>
            </a:r>
            <a:r>
              <a:rPr lang="en-US" b="0" i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i="1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JFrame</a:t>
            </a:r>
            <a:r>
              <a:rPr lang="en-US" b="0" i="1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i="1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EXIT_ON_CLOSE</a:t>
            </a:r>
            <a:r>
              <a:rPr lang="en-US" b="0" i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US" b="0" i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i="1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b="0" i="1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i="1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setLocationRelativeTo</a:t>
            </a:r>
            <a:r>
              <a:rPr lang="en-US" b="0" i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i="1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b="0" i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US" b="0" i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i="1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b="0" i="1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i="1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setVisible</a:t>
            </a:r>
            <a:r>
              <a:rPr lang="en-US" b="0" i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i="1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b="0" i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US" b="0" i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 marL="0" indent="0">
              <a:buNone/>
            </a:pPr>
            <a:r>
              <a:rPr lang="en-US" b="0" i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i="1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b="0" i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i="1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b="0" i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i="1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i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i="1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b="0" i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i="1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b="0" i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b="0" i="1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b="0" i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 marL="0" indent="0">
              <a:buNone/>
            </a:pPr>
            <a:r>
              <a:rPr lang="en-US" b="0" i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i="1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b="0" i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i="1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JtextandJpass</a:t>
            </a:r>
            <a:r>
              <a:rPr lang="en-US" b="0" i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 </a:t>
            </a:r>
          </a:p>
          <a:p>
            <a:pPr marL="0" indent="0">
              <a:buNone/>
            </a:pPr>
            <a:r>
              <a:rPr lang="en-US" b="0" i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 marL="0" indent="0">
              <a:buNone/>
            </a:pPr>
            <a:r>
              <a:rPr lang="en-US" b="0" i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05FA386-BC7F-737A-2DF6-B3D38410AB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1395" y="1542890"/>
            <a:ext cx="3016405" cy="3105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82713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401A4-E872-E15C-4CFF-5A166F5A85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685800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JTextArea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C3925B-316D-5704-1294-F137348F87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14400"/>
            <a:ext cx="8229600" cy="5211763"/>
          </a:xfrm>
        </p:spPr>
        <p:txBody>
          <a:bodyPr/>
          <a:lstStyle/>
          <a:p>
            <a:pPr algn="just"/>
            <a:r>
              <a:rPr lang="en-US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object of a 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JTextArea</a:t>
            </a:r>
            <a:r>
              <a:rPr lang="en-US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class is a multi line region that displays text. </a:t>
            </a:r>
          </a:p>
          <a:p>
            <a:pPr algn="just"/>
            <a:r>
              <a:rPr lang="en-US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allows the editing of multiple line text. </a:t>
            </a:r>
          </a:p>
          <a:p>
            <a:pPr algn="just"/>
            <a:r>
              <a:rPr lang="en-US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inherits 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JTextComponent</a:t>
            </a:r>
            <a:r>
              <a:rPr lang="en-US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class</a:t>
            </a:r>
          </a:p>
          <a:p>
            <a:pPr marL="0" indent="0" algn="just">
              <a:buNone/>
            </a:pPr>
            <a:r>
              <a:rPr lang="en-US" b="1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 Declaration</a:t>
            </a:r>
          </a:p>
          <a:p>
            <a:pPr marL="0" indent="0" algn="just">
              <a:buNone/>
            </a:pPr>
            <a:r>
              <a:rPr lang="en-US" b="1" i="1" dirty="0">
                <a:solidFill>
                  <a:srgbClr val="00669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public</a:t>
            </a:r>
            <a:r>
              <a:rPr lang="en-US" b="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b="1" i="1" dirty="0">
                <a:solidFill>
                  <a:srgbClr val="00669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en-US" b="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b="0" i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JTextArea</a:t>
            </a:r>
            <a:r>
              <a:rPr lang="en-US" b="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b="1" i="1" dirty="0">
                <a:solidFill>
                  <a:srgbClr val="00669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extends</a:t>
            </a:r>
            <a:r>
              <a:rPr lang="en-US" b="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b="0" i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JTextComponent</a:t>
            </a:r>
            <a:r>
              <a:rPr lang="en-US" b="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13163368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20D509-3327-18DF-3D50-F6DBF00ACE3E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0" y="76200"/>
            <a:ext cx="8229600" cy="6049963"/>
          </a:xfrm>
        </p:spPr>
        <p:txBody>
          <a:bodyPr/>
          <a:lstStyle/>
          <a:p>
            <a:r>
              <a:rPr lang="en-US" dirty="0"/>
              <a:t>Constructors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7A33569-830D-5078-BCF0-37D27AA3CF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1295400"/>
            <a:ext cx="6644252" cy="320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58102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FDDB507-CD11-6AF2-EAE6-A26DB83470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2133600"/>
            <a:ext cx="6578938" cy="314976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7D2B2F4-D05A-0DFF-C43C-B6985E8DE158}"/>
              </a:ext>
            </a:extLst>
          </p:cNvPr>
          <p:cNvSpPr txBox="1"/>
          <p:nvPr/>
        </p:nvSpPr>
        <p:spPr>
          <a:xfrm>
            <a:off x="762000" y="1295400"/>
            <a:ext cx="457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Commonly Used Methods</a:t>
            </a:r>
          </a:p>
        </p:txBody>
      </p:sp>
    </p:spTree>
    <p:extLst>
      <p:ext uri="{BB962C8B-B14F-4D97-AF65-F5344CB8AC3E}">
        <p14:creationId xmlns:p14="http://schemas.microsoft.com/office/powerpoint/2010/main" val="7601970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42AE94-F906-08C9-D2AE-CDE24B3B20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57199"/>
          </a:xfrm>
        </p:spPr>
        <p:txBody>
          <a:bodyPr>
            <a:normAutofit fontScale="90000"/>
          </a:bodyPr>
          <a:lstStyle/>
          <a:p>
            <a:r>
              <a:rPr lang="en-US" b="1" dirty="0" err="1"/>
              <a:t>JTextArea</a:t>
            </a:r>
            <a:r>
              <a:rPr lang="en-US" b="1" dirty="0"/>
              <a:t>: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DA70FF-A7F9-538E-649B-0967F27031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838200"/>
            <a:ext cx="8839200" cy="5867400"/>
          </a:xfrm>
        </p:spPr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US" b="0" i="1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b="0" i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i="1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javax</a:t>
            </a:r>
            <a:r>
              <a:rPr lang="en-US" b="0" i="1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i="1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swing</a:t>
            </a:r>
            <a:r>
              <a:rPr lang="en-US" b="0" i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.*;</a:t>
            </a:r>
          </a:p>
          <a:p>
            <a:pPr marL="0" indent="0">
              <a:buNone/>
            </a:pPr>
            <a:r>
              <a:rPr lang="en-US" b="0" i="1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b="0" i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i="1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b="0" i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i="1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jTextArea</a:t>
            </a:r>
            <a:r>
              <a:rPr lang="en-US" b="0" i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 marL="0" indent="0">
              <a:buNone/>
            </a:pPr>
            <a:r>
              <a:rPr lang="en-US" b="0" i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i="1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JFrame</a:t>
            </a:r>
            <a:r>
              <a:rPr lang="en-US" b="0" i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i="1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b="0" i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b="0" i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i="1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JTextArea</a:t>
            </a:r>
            <a:r>
              <a:rPr lang="en-US" b="0" i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i="1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screen</a:t>
            </a:r>
            <a:r>
              <a:rPr lang="en-US" b="0" i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b="0" i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i="1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jTextArea</a:t>
            </a:r>
            <a:r>
              <a:rPr lang="en-US" b="0" i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(){</a:t>
            </a:r>
          </a:p>
          <a:p>
            <a:pPr marL="0" indent="0">
              <a:buNone/>
            </a:pPr>
            <a:r>
              <a:rPr lang="en-US" b="0" i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i="1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b="0" i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i="1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b="0" i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i="1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JFrame</a:t>
            </a:r>
            <a:r>
              <a:rPr lang="en-US" b="0" i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i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“Text Area"</a:t>
            </a:r>
            <a:r>
              <a:rPr lang="en-US" b="0" i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endParaRPr lang="en-US" b="0" i="1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b="0" i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i="1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b="0" i="1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i="1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setSize</a:t>
            </a:r>
            <a:r>
              <a:rPr lang="en-US" b="0" i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i="1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500</a:t>
            </a:r>
            <a:r>
              <a:rPr lang="en-US" b="0" i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b="0" i="1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500</a:t>
            </a:r>
            <a:r>
              <a:rPr lang="en-US" b="0" i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US" b="0" i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</a:t>
            </a:r>
          </a:p>
          <a:p>
            <a:pPr marL="0" indent="0">
              <a:buNone/>
            </a:pPr>
            <a:r>
              <a:rPr lang="en-US" b="0" i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i="1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screen</a:t>
            </a:r>
            <a:r>
              <a:rPr lang="en-US" b="0" i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i="1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b="0" i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i="1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JTextArea</a:t>
            </a:r>
            <a:r>
              <a:rPr lang="en-US" b="0" i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 marL="0" indent="0">
              <a:buNone/>
            </a:pPr>
            <a:r>
              <a:rPr lang="en-US" b="0" i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i="1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screen</a:t>
            </a:r>
            <a:r>
              <a:rPr lang="en-US" b="0" i="1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i="1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setBounds</a:t>
            </a:r>
            <a:r>
              <a:rPr lang="en-US" b="0" i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i="1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en-US" b="0" i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b="0" i="1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en-US" b="0" i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b="0" i="1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300</a:t>
            </a:r>
            <a:r>
              <a:rPr lang="en-US" b="0" i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b="0" i="1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300</a:t>
            </a:r>
            <a:r>
              <a:rPr lang="en-US" b="0" i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			</a:t>
            </a:r>
            <a:r>
              <a:rPr lang="en-US" sz="4200" b="1" i="1" u="sng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OUTPUT:</a:t>
            </a:r>
            <a:endParaRPr lang="en-US" b="1" i="1" u="sng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b="0" i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i="1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b="0" i="1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i="1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b="0" i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i="1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screen</a:t>
            </a:r>
            <a:r>
              <a:rPr lang="en-US" b="0" i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US" b="0" i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</a:p>
          <a:p>
            <a:pPr marL="0" indent="0">
              <a:buNone/>
            </a:pPr>
            <a:r>
              <a:rPr lang="en-US" b="0" i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i="1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b="0" i="1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i="1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setLayout</a:t>
            </a:r>
            <a:r>
              <a:rPr lang="en-US" b="0" i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i="1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b="0" i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US" b="0" i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</a:t>
            </a:r>
            <a:r>
              <a:rPr lang="en-US" b="0" i="1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b="0" i="1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i="1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setDefaultCloseOperation</a:t>
            </a:r>
            <a:r>
              <a:rPr lang="en-US" b="0" i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i="1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JFrame</a:t>
            </a:r>
            <a:r>
              <a:rPr lang="en-US" b="0" i="1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i="1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EXIT_ON_CLOSE</a:t>
            </a:r>
            <a:r>
              <a:rPr lang="en-US" b="0" i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US" b="0" i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i="1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b="0" i="1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i="1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setLocationRelativeTo</a:t>
            </a:r>
            <a:r>
              <a:rPr lang="en-US" b="0" i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i="1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b="0" i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US" b="0" i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i="1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b="0" i="1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i="1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setVisible</a:t>
            </a:r>
            <a:r>
              <a:rPr lang="en-US" b="0" i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i="1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b="0" i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US" b="0" i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 marL="0" indent="0">
              <a:buNone/>
            </a:pPr>
            <a:r>
              <a:rPr lang="en-US" b="0" i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i="1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b="0" i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i="1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b="0" i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i="1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i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i="1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b="0" i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i="1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b="0" i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b="0" i="1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b="0" i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 marL="0" indent="0">
              <a:buNone/>
            </a:pPr>
            <a:r>
              <a:rPr lang="en-US" b="0" i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i="1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b="0" i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i="1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jTextArea</a:t>
            </a:r>
            <a:r>
              <a:rPr lang="en-US" b="0" i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 marL="0" indent="0">
              <a:buNone/>
            </a:pPr>
            <a:r>
              <a:rPr lang="en-US" b="0" i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 marL="0" indent="0">
              <a:buNone/>
            </a:pPr>
            <a:r>
              <a:rPr lang="en-US" b="0" i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pPr marL="0" indent="0">
              <a:buNone/>
            </a:pPr>
            <a:r>
              <a:rPr lang="en-US" b="0" i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br>
              <a:rPr lang="en-US" b="0" i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b="0" i="1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i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F7174E4-400A-735F-4C4F-6E3532A2B6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7400" y="3327242"/>
            <a:ext cx="3035456" cy="3073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31918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0B6A71-BC95-E036-1831-14100A27C4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87362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JButton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B6BF04-975A-00DD-4F42-F3F07DA587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838200"/>
            <a:ext cx="8763000" cy="5867400"/>
          </a:xfrm>
        </p:spPr>
        <p:txBody>
          <a:bodyPr>
            <a:normAutofit/>
          </a:bodyPr>
          <a:lstStyle/>
          <a:p>
            <a:pPr algn="just"/>
            <a:r>
              <a:rPr lang="en-US" sz="2800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800" b="0" i="0" dirty="0" err="1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JButton</a:t>
            </a:r>
            <a:r>
              <a:rPr lang="en-US" sz="2800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class is used to create a labeled button that has platform independent implementation. The application result in some action when the button is pushed. It inherits </a:t>
            </a:r>
            <a:r>
              <a:rPr lang="en-US" sz="2800" b="0" i="0" dirty="0" err="1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AbstractButton</a:t>
            </a:r>
            <a:r>
              <a:rPr lang="en-US" sz="2800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class.</a:t>
            </a:r>
          </a:p>
          <a:p>
            <a:pPr algn="just"/>
            <a:r>
              <a:rPr lang="en-US" sz="2800" b="1" dirty="0" err="1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Jbutton</a:t>
            </a:r>
            <a:r>
              <a:rPr lang="en-US" sz="2800" b="1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Class declaration</a:t>
            </a:r>
          </a:p>
          <a:p>
            <a:pPr marL="0" indent="0" algn="just">
              <a:buNone/>
            </a:pPr>
            <a:r>
              <a:rPr lang="en-US" sz="2800" b="1" i="1" dirty="0">
                <a:solidFill>
                  <a:srgbClr val="00669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public</a:t>
            </a:r>
            <a:r>
              <a:rPr lang="en-US" sz="2800" b="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2800" b="1" i="1" dirty="0">
                <a:solidFill>
                  <a:srgbClr val="00669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en-US" sz="2800" b="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2800" b="0" i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JButton</a:t>
            </a:r>
            <a:r>
              <a:rPr lang="en-US" sz="2800" b="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2800" b="1" i="1" dirty="0">
                <a:solidFill>
                  <a:srgbClr val="00669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extends</a:t>
            </a:r>
            <a:r>
              <a:rPr lang="en-US" sz="2800" b="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2800" b="0" i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AbstractButton</a:t>
            </a:r>
            <a:r>
              <a:rPr lang="en-US" sz="2800" b="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2800" b="1" i="1" dirty="0">
                <a:solidFill>
                  <a:srgbClr val="00669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implements</a:t>
            </a:r>
            <a:r>
              <a:rPr lang="en-US" sz="2800" b="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Accessible </a:t>
            </a:r>
          </a:p>
          <a:p>
            <a:pPr marL="0" indent="0" algn="just">
              <a:buNone/>
            </a:pPr>
            <a:r>
              <a:rPr lang="en-US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Constructors of </a:t>
            </a:r>
            <a:r>
              <a:rPr lang="en-US" sz="2800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Jbutton</a:t>
            </a:r>
            <a:r>
              <a:rPr lang="en-US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Class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E5DB72F-A9FC-7A98-3344-0DC82ECC8F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7129" y="4648200"/>
            <a:ext cx="6629741" cy="1854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30253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28720F-DBE9-1471-CAED-E5870A468C55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228600" y="533400"/>
            <a:ext cx="8229600" cy="4525963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Methods of Abstract Button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C4D5793-CACB-EFDF-D096-C47D94285C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1676400"/>
            <a:ext cx="6934200" cy="3733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01441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991AAF-6024-C172-A277-30D42B6FAA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11162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Button Example: </a:t>
            </a:r>
            <a:r>
              <a:rPr lang="en-US" b="1" dirty="0" err="1"/>
              <a:t>ImageIcon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75C6C5-582F-A63C-09AA-8C2C4D95D8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914400"/>
            <a:ext cx="8763000" cy="5668962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javax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swing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.*;      </a:t>
            </a:r>
          </a:p>
          <a:p>
            <a:pPr marL="0" indent="0"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ButtonExample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    </a:t>
            </a:r>
          </a:p>
          <a:p>
            <a:pPr marL="0" indent="0">
              <a:buNone/>
            </a:pP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ButtonExample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(){    </a:t>
            </a:r>
          </a:p>
          <a:p>
            <a:pPr marL="0" indent="0">
              <a:buNone/>
            </a:pP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JFrame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JFrame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"Button Example"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            </a:t>
            </a:r>
          </a:p>
          <a:p>
            <a:pPr marL="0" indent="0">
              <a:buNone/>
            </a:pPr>
            <a:r>
              <a:rPr lang="en-US" sz="2600" b="1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sz="2600" b="1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JButton</a:t>
            </a:r>
            <a:r>
              <a:rPr lang="en-US" sz="26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600" b="1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sz="26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600" b="1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sz="26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600" b="1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JButton</a:t>
            </a:r>
            <a:r>
              <a:rPr lang="en-US" sz="26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600" b="1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sz="26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600" b="1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ImageIcon</a:t>
            </a:r>
            <a:r>
              <a:rPr lang="en-US" sz="26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600" b="1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"D:</a:t>
            </a:r>
            <a:r>
              <a:rPr lang="en-US" sz="2600" b="1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\\</a:t>
            </a:r>
            <a:r>
              <a:rPr lang="en-US" sz="2600" b="1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buttonIcon.png"</a:t>
            </a:r>
            <a:r>
              <a:rPr lang="en-US" sz="26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));  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</a:t>
            </a:r>
          </a:p>
          <a:p>
            <a:pPr marL="0" indent="0">
              <a:buNone/>
            </a:pPr>
            <a:r>
              <a:rPr lang="en-US" dirty="0">
                <a:solidFill>
                  <a:srgbClr val="001080"/>
                </a:solidFill>
                <a:latin typeface="Consolas" panose="020B0609020204030204" pitchFamily="49" charset="0"/>
              </a:rPr>
              <a:t>	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setBounds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70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70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    </a:t>
            </a:r>
          </a:p>
          <a:p>
            <a:pPr marL="0" indent="0">
              <a:buNone/>
            </a:pP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	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    </a:t>
            </a:r>
          </a:p>
          <a:p>
            <a:pPr marL="0" indent="0">
              <a:buNone/>
            </a:pP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	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setSize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300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400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    </a:t>
            </a:r>
          </a:p>
          <a:p>
            <a:pPr marL="0" indent="0">
              <a:buNone/>
            </a:pP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	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setLayout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    </a:t>
            </a:r>
          </a:p>
          <a:p>
            <a:pPr marL="0" indent="0">
              <a:buNone/>
            </a:pP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	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setVisible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    </a:t>
            </a:r>
          </a:p>
          <a:p>
            <a:pPr marL="0" indent="0">
              <a:buNone/>
            </a:pP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	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setDefaultCloseOperation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JFrame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EXIT_ON_CLOSE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    </a:t>
            </a:r>
          </a:p>
          <a:p>
            <a:pPr marL="0" indent="0"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         </a:t>
            </a:r>
          </a:p>
          <a:p>
            <a:pPr marL="0" indent="0"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	public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    </a:t>
            </a:r>
          </a:p>
          <a:p>
            <a:pPr marL="0" indent="0"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		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ButtonExample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    </a:t>
            </a:r>
          </a:p>
          <a:p>
            <a:pPr marL="0" indent="0"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	}    </a:t>
            </a:r>
          </a:p>
          <a:p>
            <a:pPr marL="0" indent="0"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11110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033389-C566-ABE2-9CD7-3759184D23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334962"/>
          </a:xfrm>
        </p:spPr>
        <p:txBody>
          <a:bodyPr>
            <a:normAutofit fontScale="90000"/>
          </a:bodyPr>
          <a:lstStyle/>
          <a:p>
            <a:r>
              <a:rPr lang="en-US" b="1" dirty="0" err="1"/>
              <a:t>JLabel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DD7901-20EF-2EF5-9DE6-DF7E614C15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762000"/>
            <a:ext cx="8686800" cy="5821362"/>
          </a:xfrm>
        </p:spPr>
        <p:txBody>
          <a:bodyPr>
            <a:normAutofit/>
          </a:bodyPr>
          <a:lstStyle/>
          <a:p>
            <a:pPr algn="just"/>
            <a:r>
              <a:rPr lang="en-US" sz="2400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object of </a:t>
            </a:r>
            <a:r>
              <a:rPr lang="en-US" sz="2400" b="0" i="0" dirty="0" err="1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JLabel</a:t>
            </a:r>
            <a:r>
              <a:rPr lang="en-US" sz="2400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class is a component for placing text in a container.</a:t>
            </a:r>
          </a:p>
          <a:p>
            <a:pPr algn="just"/>
            <a:r>
              <a:rPr lang="en-US" sz="2400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It is used to display a single line of read only text. </a:t>
            </a:r>
          </a:p>
          <a:p>
            <a:pPr algn="just"/>
            <a:r>
              <a:rPr lang="en-US" sz="2400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text can be changed by an application but a user cannot edit it directly. </a:t>
            </a:r>
          </a:p>
          <a:p>
            <a:pPr algn="just"/>
            <a:r>
              <a:rPr lang="en-US" sz="2400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inherits JComponent class.</a:t>
            </a:r>
          </a:p>
          <a:p>
            <a:pPr marL="0" indent="0" algn="just">
              <a:buNone/>
            </a:pPr>
            <a:r>
              <a:rPr lang="en-US" sz="2400" dirty="0" err="1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Declararion</a:t>
            </a:r>
            <a:r>
              <a:rPr lang="en-US" sz="24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of </a:t>
            </a:r>
            <a:r>
              <a:rPr lang="en-US" sz="2400" dirty="0" err="1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Jlabel</a:t>
            </a:r>
            <a:r>
              <a:rPr lang="en-US" sz="24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Class:</a:t>
            </a:r>
          </a:p>
          <a:p>
            <a:pPr marL="0" indent="0" algn="just">
              <a:buNone/>
            </a:pPr>
            <a:r>
              <a:rPr lang="en-US" sz="2400" b="1" i="0" dirty="0">
                <a:solidFill>
                  <a:srgbClr val="00669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public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2400" b="1" i="0" dirty="0">
                <a:solidFill>
                  <a:srgbClr val="00669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2400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JLabel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2400" b="1" i="0" dirty="0">
                <a:solidFill>
                  <a:srgbClr val="00669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extends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JComponent </a:t>
            </a:r>
            <a:r>
              <a:rPr lang="en-US" sz="2400" b="1" i="0" dirty="0">
                <a:solidFill>
                  <a:srgbClr val="00669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implements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2400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SwingConstants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 Accessible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5017035-038C-2DDF-E511-B0BE5A9776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9589" y="4191000"/>
            <a:ext cx="6259611" cy="259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7938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2FA5D0-62FA-FAA0-D436-DB4227097EA1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0" y="457200"/>
            <a:ext cx="8229600" cy="5668963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Commonly Used Methods: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F65CFA7-F584-A69A-3CE3-A588C13C13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761" y="1447800"/>
            <a:ext cx="7815439" cy="403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45130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AE3976-AF93-1524-BF94-81788B2D30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 fontScale="90000"/>
          </a:bodyPr>
          <a:lstStyle/>
          <a:p>
            <a:r>
              <a:rPr lang="en-US" b="1" dirty="0" err="1"/>
              <a:t>JCheckBox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CDA57C-212B-5327-5055-097FF3CE1F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990600"/>
            <a:ext cx="8839200" cy="5592762"/>
          </a:xfrm>
        </p:spPr>
        <p:txBody>
          <a:bodyPr/>
          <a:lstStyle/>
          <a:p>
            <a:pPr algn="just"/>
            <a:r>
              <a:rPr lang="en-US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JCheckBox</a:t>
            </a:r>
            <a:r>
              <a:rPr lang="en-US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class is used to create a checkbox. </a:t>
            </a:r>
          </a:p>
          <a:p>
            <a:pPr algn="just"/>
            <a:r>
              <a:rPr lang="en-US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is used to turn an option on (true) or off (false). </a:t>
            </a:r>
          </a:p>
          <a:p>
            <a:pPr algn="just"/>
            <a:r>
              <a:rPr lang="en-US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Clicking on a 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CheckBox</a:t>
            </a:r>
            <a:r>
              <a:rPr lang="en-US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changes its state from "on" to "off" or from "off" to "on ".</a:t>
            </a:r>
          </a:p>
          <a:p>
            <a:pPr algn="just"/>
            <a:r>
              <a:rPr lang="en-US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inherits </a:t>
            </a:r>
            <a:r>
              <a:rPr lang="en-US" b="1" i="0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JToggleButton</a:t>
            </a:r>
            <a:r>
              <a:rPr lang="en-US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class.</a:t>
            </a:r>
          </a:p>
          <a:p>
            <a:pPr marL="0" indent="0" algn="just">
              <a:buNone/>
            </a:pPr>
            <a:r>
              <a:rPr lang="en-US" b="1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Declaration:</a:t>
            </a:r>
          </a:p>
          <a:p>
            <a:pPr marL="0" indent="0" algn="just">
              <a:buNone/>
            </a:pPr>
            <a:r>
              <a:rPr lang="en-US" sz="2400" b="1" i="1" dirty="0">
                <a:solidFill>
                  <a:srgbClr val="00669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public</a:t>
            </a:r>
            <a:r>
              <a:rPr lang="en-US" sz="2400" b="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2400" b="1" i="1" dirty="0">
                <a:solidFill>
                  <a:srgbClr val="00669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en-US" sz="2400" b="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2400" b="0" i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JCheckBox</a:t>
            </a:r>
            <a:r>
              <a:rPr lang="en-US" sz="2400" b="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2400" b="1" i="1" dirty="0">
                <a:solidFill>
                  <a:srgbClr val="00669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extends</a:t>
            </a:r>
            <a:r>
              <a:rPr lang="en-US" sz="2400" b="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JToggleButton </a:t>
            </a:r>
            <a:r>
              <a:rPr lang="en-US" sz="2400" b="1" i="1" dirty="0">
                <a:solidFill>
                  <a:srgbClr val="00669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implements</a:t>
            </a:r>
            <a:r>
              <a:rPr lang="en-US" sz="2400" b="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Accessible</a:t>
            </a:r>
            <a:r>
              <a:rPr lang="en-US" sz="3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marL="0" indent="0" algn="just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91528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69CBC0-410C-CA61-59DA-747AACFCF0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334962"/>
          </a:xfrm>
        </p:spPr>
        <p:txBody>
          <a:bodyPr>
            <a:normAutofit fontScale="90000"/>
          </a:bodyPr>
          <a:lstStyle/>
          <a:p>
            <a:r>
              <a:rPr lang="en-US" dirty="0"/>
              <a:t>Constructors of </a:t>
            </a:r>
            <a:r>
              <a:rPr lang="en-US" dirty="0" err="1"/>
              <a:t>JCheckBox</a:t>
            </a:r>
            <a:endParaRPr lang="en-US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16B00C51-469B-8349-426F-6C6002A070A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02649472"/>
              </p:ext>
            </p:extLst>
          </p:nvPr>
        </p:nvGraphicFramePr>
        <p:xfrm>
          <a:off x="152400" y="762000"/>
          <a:ext cx="8763000" cy="342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25018">
                  <a:extLst>
                    <a:ext uri="{9D8B030D-6E8A-4147-A177-3AD203B41FA5}">
                      <a16:colId xmlns:a16="http://schemas.microsoft.com/office/drawing/2014/main" val="2484845994"/>
                    </a:ext>
                  </a:extLst>
                </a:gridCol>
                <a:gridCol w="4537982">
                  <a:extLst>
                    <a:ext uri="{9D8B030D-6E8A-4147-A177-3AD203B41FA5}">
                      <a16:colId xmlns:a16="http://schemas.microsoft.com/office/drawing/2014/main" val="542539011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Constructors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0222676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JCheckBox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()</a:t>
                      </a:r>
                      <a:endParaRPr 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Creates an initially unselected check box button with no text, no icon.</a:t>
                      </a:r>
                      <a:endParaRPr 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392333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JCheckBox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(String s)</a:t>
                      </a:r>
                      <a:endParaRPr 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Creates an initially unselected check box with text.</a:t>
                      </a:r>
                      <a:endParaRPr 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871708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JCheckBox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(String text,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boolean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selected)</a:t>
                      </a:r>
                      <a:endParaRPr 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Creates a check box with text and specifies whether or not it is initially selected.</a:t>
                      </a:r>
                      <a:endParaRPr 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0295343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JCheckBox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(Action a)</a:t>
                      </a:r>
                      <a:endParaRPr 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Creates a check box where properties are taken from the Action supplied.</a:t>
                      </a:r>
                      <a:endParaRPr 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0722227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E797ADBE-1371-4FC0-FB1E-265FAAA09A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4413140"/>
            <a:ext cx="8763000" cy="2292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4476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2B04E4-8D9D-DD2E-F148-884BAAB19A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57199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JRadioButton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DA2068-5094-553A-0A92-981F4B0C34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38200"/>
            <a:ext cx="9144000" cy="5287963"/>
          </a:xfrm>
        </p:spPr>
        <p:txBody>
          <a:bodyPr>
            <a:normAutofit/>
          </a:bodyPr>
          <a:lstStyle/>
          <a:p>
            <a:pPr algn="just"/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The 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inter-regular"/>
              </a:rPr>
              <a:t>JRadioButton</a:t>
            </a:r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 class is used to create a radio button. </a:t>
            </a:r>
          </a:p>
          <a:p>
            <a:pPr algn="just"/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It is used to choose one option from multiple options. </a:t>
            </a:r>
          </a:p>
          <a:p>
            <a:pPr algn="just"/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It is widely used in exam systems or quiz.</a:t>
            </a:r>
          </a:p>
          <a:p>
            <a:pPr algn="just"/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It should be added in 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inter-regular"/>
              </a:rPr>
              <a:t>ButtonGroup</a:t>
            </a:r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 to select one radio button only.</a:t>
            </a:r>
          </a:p>
          <a:p>
            <a:pPr marL="0" indent="0">
              <a:buNone/>
            </a:pPr>
            <a:r>
              <a:rPr lang="en-US" b="1" u="sng" dirty="0"/>
              <a:t>Declaration:</a:t>
            </a:r>
          </a:p>
          <a:p>
            <a:pPr marL="0" indent="0">
              <a:buNone/>
            </a:pPr>
            <a:r>
              <a:rPr lang="en-US" sz="2400" b="1" i="0" dirty="0">
                <a:solidFill>
                  <a:srgbClr val="006699"/>
                </a:solidFill>
                <a:effectLst/>
                <a:latin typeface="inter-regular"/>
              </a:rPr>
              <a:t>public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US" sz="2400" b="1" i="0" dirty="0">
                <a:solidFill>
                  <a:srgbClr val="006699"/>
                </a:solidFill>
                <a:effectLst/>
                <a:latin typeface="inter-regular"/>
              </a:rPr>
              <a:t>class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US" sz="2400" b="0" i="0" dirty="0" err="1">
                <a:solidFill>
                  <a:srgbClr val="000000"/>
                </a:solidFill>
                <a:effectLst/>
                <a:latin typeface="inter-regular"/>
              </a:rPr>
              <a:t>JRadioButton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US" sz="2400" b="1" i="0" dirty="0">
                <a:solidFill>
                  <a:srgbClr val="006699"/>
                </a:solidFill>
                <a:effectLst/>
                <a:latin typeface="inter-regular"/>
              </a:rPr>
              <a:t>extends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inter-regular"/>
              </a:rPr>
              <a:t> JToggleButton </a:t>
            </a:r>
            <a:r>
              <a:rPr lang="en-US" sz="2400" b="1" i="0" dirty="0">
                <a:solidFill>
                  <a:srgbClr val="006699"/>
                </a:solidFill>
                <a:effectLst/>
                <a:latin typeface="inter-regular"/>
              </a:rPr>
              <a:t>implements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inter-regular"/>
              </a:rPr>
              <a:t> Accessible 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13178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AD6A25-480E-AC97-57B8-0D5086054DCD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0" y="76201"/>
            <a:ext cx="8229600" cy="381000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US" sz="9600" b="1" dirty="0"/>
              <a:t>Constructors: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sz="6400" b="1" dirty="0"/>
          </a:p>
          <a:p>
            <a:pPr marL="0" indent="0">
              <a:buNone/>
            </a:pPr>
            <a:r>
              <a:rPr lang="en-US" sz="8000" b="1" dirty="0"/>
              <a:t>Common Methods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70567E4-A1F5-5C60-2C51-9D372FF379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457200"/>
            <a:ext cx="6610690" cy="206385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44EF66D-F88D-CB6E-80AE-AF52137C32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0" y="2743200"/>
            <a:ext cx="6096000" cy="3230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49626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1D6ED8-684A-289F-7F9D-555D5476D2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533400"/>
          </a:xfrm>
        </p:spPr>
        <p:txBody>
          <a:bodyPr>
            <a:normAutofit fontScale="90000"/>
          </a:bodyPr>
          <a:lstStyle/>
          <a:p>
            <a:pPr algn="just"/>
            <a:r>
              <a:rPr lang="en-US" dirty="0" err="1"/>
              <a:t>JComboBox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D1AA3E-6E1C-06C0-B483-FA2E258A27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" y="609601"/>
            <a:ext cx="9067800" cy="5257800"/>
          </a:xfrm>
        </p:spPr>
        <p:txBody>
          <a:bodyPr/>
          <a:lstStyle/>
          <a:p>
            <a:pPr algn="just"/>
            <a:r>
              <a:rPr lang="en-US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object of Choice class is used to show popup menu of choices. </a:t>
            </a:r>
          </a:p>
          <a:p>
            <a:pPr algn="just"/>
            <a:r>
              <a:rPr lang="en-US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Choice selected by user is shown on the top of a </a:t>
            </a:r>
            <a:r>
              <a:rPr lang="en-US" b="0" i="0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menu</a:t>
            </a: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algn="just"/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inherits </a:t>
            </a:r>
            <a:r>
              <a:rPr lang="en-US" b="1" i="0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JComponent</a:t>
            </a:r>
            <a:r>
              <a:rPr lang="en-US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class.</a:t>
            </a:r>
          </a:p>
          <a:p>
            <a:pPr marL="0" indent="0" algn="just">
              <a:buNone/>
            </a:pPr>
            <a:r>
              <a:rPr lang="en-US" b="1" u="sng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Declaration:</a:t>
            </a:r>
          </a:p>
          <a:p>
            <a:pPr marL="0" indent="0" algn="just">
              <a:buNone/>
            </a:pPr>
            <a:r>
              <a:rPr lang="en-US" sz="1600" b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JComboBox</a:t>
            </a:r>
            <a:r>
              <a:rPr lang="en-US" sz="1600" b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1600" b="1" dirty="0">
                <a:solidFill>
                  <a:srgbClr val="00669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extends</a:t>
            </a:r>
            <a:r>
              <a:rPr lang="en-US" sz="1600" b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JComponent </a:t>
            </a:r>
            <a:r>
              <a:rPr lang="en-US" sz="1600" b="1" dirty="0">
                <a:solidFill>
                  <a:srgbClr val="00669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implements</a:t>
            </a:r>
            <a:r>
              <a:rPr lang="en-US" sz="1600" b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ItemSelectable</a:t>
            </a:r>
            <a:r>
              <a:rPr lang="en-US" sz="1600" b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 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ListDataListener</a:t>
            </a:r>
            <a:r>
              <a:rPr lang="en-US" sz="1600" b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 ActionListener, Accessible  </a:t>
            </a:r>
            <a:endParaRPr lang="en-US" sz="1600" dirty="0">
              <a:solidFill>
                <a:srgbClr val="33333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552056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FAC73E-A486-415F-1E87-6D8EAA6347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9E42A3-1CE9-82EF-AD59-7C929D9228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77" descr="JAVA Jcombobox 1">
            <a:extLst>
              <a:ext uri="{FF2B5EF4-FFF2-40B4-BE49-F238E27FC236}">
                <a16:creationId xmlns:a16="http://schemas.microsoft.com/office/drawing/2014/main" id="{9F3EECDC-7372-D8A9-DB6D-DB3AEF89D1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2514600"/>
            <a:ext cx="3314700" cy="3000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78" descr="JAVA Jcombobox 2">
            <a:extLst>
              <a:ext uri="{FF2B5EF4-FFF2-40B4-BE49-F238E27FC236}">
                <a16:creationId xmlns:a16="http://schemas.microsoft.com/office/drawing/2014/main" id="{A72B6A49-BC06-6DEB-EFCA-270F26AAEA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3950" y="2514600"/>
            <a:ext cx="3524250" cy="2771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7028510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97FE7D-CE90-318E-AE50-A20F087F8EE6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0" y="76200"/>
            <a:ext cx="8915400" cy="6049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Constructors:</a:t>
            </a:r>
          </a:p>
          <a:p>
            <a:pPr marL="0" indent="0">
              <a:buNone/>
            </a:pPr>
            <a:endParaRPr lang="en-US" sz="2400" b="1" dirty="0"/>
          </a:p>
          <a:p>
            <a:pPr marL="0" indent="0">
              <a:buNone/>
            </a:pPr>
            <a:endParaRPr lang="en-US" sz="2400" b="1" dirty="0"/>
          </a:p>
          <a:p>
            <a:pPr marL="0" indent="0">
              <a:buNone/>
            </a:pPr>
            <a:endParaRPr lang="en-US" sz="2400" b="1" dirty="0"/>
          </a:p>
          <a:p>
            <a:pPr marL="0" indent="0">
              <a:buNone/>
            </a:pPr>
            <a:endParaRPr lang="en-US" sz="2400" b="1" dirty="0"/>
          </a:p>
          <a:p>
            <a:pPr marL="0" indent="0">
              <a:buNone/>
            </a:pPr>
            <a:endParaRPr lang="en-US" sz="2400" b="1" dirty="0"/>
          </a:p>
          <a:p>
            <a:pPr marL="0" indent="0">
              <a:buNone/>
            </a:pPr>
            <a:endParaRPr lang="en-US" sz="2400" b="1" dirty="0"/>
          </a:p>
          <a:p>
            <a:pPr marL="0" indent="0">
              <a:buNone/>
            </a:pPr>
            <a:endParaRPr lang="en-US" sz="2400" b="1" dirty="0"/>
          </a:p>
          <a:p>
            <a:pPr marL="0" indent="0">
              <a:buNone/>
            </a:pPr>
            <a:r>
              <a:rPr lang="en-US" sz="2400" b="1" dirty="0"/>
              <a:t>Common Methods: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C97F585-DB67-88BD-94B7-39802C1657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457200"/>
            <a:ext cx="6674193" cy="244487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482F5DB-48AC-AA32-AB91-114CE7B4FC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5208" y="2971800"/>
            <a:ext cx="6648792" cy="304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530278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4B2B977A-7955-C580-7385-4C63CA2A3C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334962"/>
          </a:xfrm>
        </p:spPr>
        <p:txBody>
          <a:bodyPr>
            <a:noAutofit/>
          </a:bodyPr>
          <a:lstStyle/>
          <a:p>
            <a:r>
              <a:rPr lang="en-US" sz="3200" b="1" dirty="0"/>
              <a:t>Example: </a:t>
            </a:r>
            <a:r>
              <a:rPr lang="en-US" sz="3200" b="1" dirty="0" err="1"/>
              <a:t>JRadioButton</a:t>
            </a:r>
            <a:r>
              <a:rPr lang="en-US" sz="3200" b="1" dirty="0"/>
              <a:t>, </a:t>
            </a:r>
            <a:r>
              <a:rPr lang="en-US" sz="3200" b="1" dirty="0" err="1"/>
              <a:t>JCheckBox,JComboBox</a:t>
            </a:r>
            <a:endParaRPr lang="en-US" sz="3200" b="1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77CED66-C86D-2875-C371-C6BD6095FD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792162"/>
            <a:ext cx="8229600" cy="5791200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javax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swing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.*;</a:t>
            </a:r>
          </a:p>
          <a:p>
            <a:pPr marL="0" indent="0"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radioButtonExample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 marL="0" indent="0"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JRadioButton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male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female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ButtonGroup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g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JFrame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JCheckBox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term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JComboBox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select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radioButtonExample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(){</a:t>
            </a:r>
          </a:p>
          <a:p>
            <a:pPr marL="0" indent="0"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JFrame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"Main"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setLayout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setSize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500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500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g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ButtonGroup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 marL="0" indent="0"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</a:t>
            </a:r>
          </a:p>
          <a:p>
            <a:pPr marL="0" indent="0"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male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JRadioButton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"male"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male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setBounds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200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female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JRadioButton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"female"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female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setBounds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200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200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g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male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g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female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male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female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DE0105F8-27CE-FC40-F3B0-21A47D12426B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4038600" y="914400"/>
            <a:ext cx="5105400" cy="5791200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514757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A3647E-D904-DD20-8289-2E5AD8EDE3F4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0" y="228600"/>
            <a:ext cx="8839200" cy="6400800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country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[]={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"Nepal"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"India"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"Bangladesh"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Butan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Srilanka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 marL="0" indent="0"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select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JComboBox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country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select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addItem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"Japan"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select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setBounds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200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300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select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term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JCheckBox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"terms and Condition"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term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setBounds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200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400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350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term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</a:p>
          <a:p>
            <a:pPr marL="0" indent="0"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setDefaultCloseOperation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JFrame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EXIT_ON_CLOSE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setLocationRelativeTo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setVisible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</a:t>
            </a:r>
          </a:p>
          <a:p>
            <a:pPr marL="0" indent="0"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</a:t>
            </a:r>
          </a:p>
          <a:p>
            <a:pPr marL="0" indent="0"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 marL="0" indent="0"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 marL="0" indent="0"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radioButtonExample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 marL="0" indent="0"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 marL="0" indent="0"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200782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4F19E4-250F-5894-0441-2AE970821B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334962"/>
          </a:xfrm>
        </p:spPr>
        <p:txBody>
          <a:bodyPr>
            <a:normAutofit fontScale="90000"/>
          </a:bodyPr>
          <a:lstStyle/>
          <a:p>
            <a:r>
              <a:rPr lang="en-US" b="1" dirty="0" err="1"/>
              <a:t>JScrollPane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E49868-F42A-3A79-4A1A-EB7C42BCF6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685800"/>
            <a:ext cx="8763000" cy="5897562"/>
          </a:xfrm>
        </p:spPr>
        <p:txBody>
          <a:bodyPr/>
          <a:lstStyle/>
          <a:p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A 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inter-regular"/>
              </a:rPr>
              <a:t>JscrollPane</a:t>
            </a:r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 is used to make scrollable view of a component. </a:t>
            </a:r>
          </a:p>
          <a:p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When screen size is limited, we use a scroll pane to display a large component or a component whose size can change dynamically.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437586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E583D869-45F9-532B-2F3D-961E6F0102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57199"/>
          </a:xfrm>
        </p:spPr>
        <p:txBody>
          <a:bodyPr>
            <a:normAutofit fontScale="90000"/>
          </a:bodyPr>
          <a:lstStyle/>
          <a:p>
            <a:r>
              <a:rPr lang="en-US" b="1" dirty="0" err="1"/>
              <a:t>JScrollPane</a:t>
            </a:r>
            <a:r>
              <a:rPr lang="en-US" b="1" dirty="0"/>
              <a:t>: Example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D0CF78D1-51A6-186C-D31E-79282E12BB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838200"/>
            <a:ext cx="8382000" cy="5867400"/>
          </a:xfrm>
        </p:spPr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javax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swing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JFrame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javax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swing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JScrollPane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javax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swing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JTextArea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jScrollPane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 marL="0" indent="0"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JFrame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JTextArea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area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JScrollPane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spane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jScrollPane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(){</a:t>
            </a:r>
          </a:p>
          <a:p>
            <a:pPr marL="0" indent="0"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JFrame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"Scroll Pane"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area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JTextArea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spane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JScrollPane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area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spane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setSize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500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500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setVisible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setDefaultCloseOperation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JFrame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EXIT_ON_CLOSE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 marL="0" indent="0"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 marL="0" indent="0"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jScrollPane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 marL="0" indent="0"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 marL="0" indent="0"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239535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E5239A-C3EA-E49A-2686-3E17523827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52401"/>
            <a:ext cx="8229600" cy="38100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Borders into </a:t>
            </a:r>
            <a:r>
              <a:rPr lang="en-US" b="1" dirty="0" err="1"/>
              <a:t>JPanel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7CACFB-C9F0-A1DE-AACA-F5FBA31051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533401"/>
            <a:ext cx="8610600" cy="6172199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import</a:t>
            </a:r>
            <a:r>
              <a:rPr lang="en-US" sz="1400" b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 err="1">
                <a:solidFill>
                  <a:srgbClr val="267F9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javax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b="0" dirty="0" err="1">
                <a:solidFill>
                  <a:srgbClr val="267F9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swing</a:t>
            </a:r>
            <a:r>
              <a:rPr lang="en-US" sz="1400" b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.*;</a:t>
            </a:r>
          </a:p>
          <a:p>
            <a:pPr marL="0" indent="0"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import</a:t>
            </a:r>
            <a:r>
              <a:rPr lang="en-US" sz="1400" b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 err="1">
                <a:solidFill>
                  <a:srgbClr val="267F9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javax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b="0" dirty="0" err="1">
                <a:solidFill>
                  <a:srgbClr val="267F9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swing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b="0" dirty="0" err="1">
                <a:solidFill>
                  <a:srgbClr val="267F9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border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b="0" dirty="0" err="1">
                <a:solidFill>
                  <a:srgbClr val="267F9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Border</a:t>
            </a:r>
            <a:r>
              <a:rPr lang="en-US" sz="1400" b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0" indent="0"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import</a:t>
            </a:r>
            <a:r>
              <a:rPr lang="en-US" sz="1400" b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 err="1">
                <a:solidFill>
                  <a:srgbClr val="267F9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java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b="0" dirty="0" err="1">
                <a:solidFill>
                  <a:srgbClr val="267F9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awt</a:t>
            </a:r>
            <a:r>
              <a:rPr lang="en-US" sz="1400" b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.*;</a:t>
            </a:r>
          </a:p>
          <a:p>
            <a:pPr marL="0" indent="0"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public</a:t>
            </a:r>
            <a:r>
              <a:rPr lang="en-US" sz="1400" b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en-US" sz="1400" b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 err="1">
                <a:solidFill>
                  <a:srgbClr val="267F9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BorderToPanel</a:t>
            </a:r>
            <a:r>
              <a:rPr lang="en-US" sz="1400" b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{</a:t>
            </a:r>
          </a:p>
          <a:p>
            <a:pPr marL="0" indent="0"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sz="1400" b="0" dirty="0" err="1">
                <a:solidFill>
                  <a:srgbClr val="267F9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JFrame</a:t>
            </a:r>
            <a:r>
              <a:rPr lang="en-US" sz="1400" b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>
                <a:solidFill>
                  <a:srgbClr val="00108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1400" b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0" indent="0"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sz="1400" b="0" dirty="0" err="1">
                <a:solidFill>
                  <a:srgbClr val="795E26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BorderToPanel</a:t>
            </a:r>
            <a:r>
              <a:rPr lang="en-US" sz="1400" b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(){</a:t>
            </a:r>
          </a:p>
          <a:p>
            <a:pPr marL="0" indent="0"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       </a:t>
            </a:r>
            <a:r>
              <a:rPr lang="en-US" sz="1400" b="0" dirty="0">
                <a:solidFill>
                  <a:srgbClr val="00108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1400" b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400" b="0" dirty="0">
                <a:solidFill>
                  <a:srgbClr val="AF00D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new</a:t>
            </a:r>
            <a:r>
              <a:rPr lang="en-US" sz="1400" b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 err="1">
                <a:solidFill>
                  <a:srgbClr val="795E26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JFrame</a:t>
            </a:r>
            <a:r>
              <a:rPr lang="en-US" sz="1400" b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b="0" dirty="0">
                <a:solidFill>
                  <a:srgbClr val="A315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"Border to Panel"</a:t>
            </a:r>
            <a:r>
              <a:rPr lang="en-US" sz="1400" b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pPr marL="0" indent="0"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       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b="0" dirty="0" err="1">
                <a:solidFill>
                  <a:srgbClr val="795E26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setSize</a:t>
            </a:r>
            <a:r>
              <a:rPr lang="en-US" sz="1400" b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b="0" dirty="0">
                <a:solidFill>
                  <a:srgbClr val="09865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500</a:t>
            </a:r>
            <a:r>
              <a:rPr lang="en-US" sz="1400" b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1400" b="0" dirty="0">
                <a:solidFill>
                  <a:srgbClr val="09865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500</a:t>
            </a:r>
            <a:r>
              <a:rPr lang="en-US" sz="1400" b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pPr marL="0" indent="0"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       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b="0" dirty="0" err="1">
                <a:solidFill>
                  <a:srgbClr val="795E26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setLayout</a:t>
            </a:r>
            <a:r>
              <a:rPr lang="en-US" sz="1400" b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b="0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null</a:t>
            </a:r>
            <a:r>
              <a:rPr lang="en-US" sz="1400" b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pPr marL="0" indent="0"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       </a:t>
            </a:r>
            <a:r>
              <a:rPr lang="en-US" sz="1400" b="0" dirty="0" err="1">
                <a:solidFill>
                  <a:srgbClr val="795E26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createUI</a:t>
            </a:r>
            <a:r>
              <a:rPr lang="en-US" sz="1400" b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b="0" dirty="0">
                <a:solidFill>
                  <a:srgbClr val="00108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1400" b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pPr marL="0" indent="0"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       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b="0" dirty="0" err="1">
                <a:solidFill>
                  <a:srgbClr val="795E26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setDefaultCloseOperation</a:t>
            </a:r>
            <a:r>
              <a:rPr lang="en-US" sz="1400" b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b="0" dirty="0" err="1">
                <a:solidFill>
                  <a:srgbClr val="267F9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JFrame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b="0" dirty="0" err="1">
                <a:solidFill>
                  <a:srgbClr val="0070C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EXIT_ON_CLOSE</a:t>
            </a:r>
            <a:r>
              <a:rPr lang="en-US" sz="1400" b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pPr marL="0" indent="0"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       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b="0" dirty="0" err="1">
                <a:solidFill>
                  <a:srgbClr val="795E26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setLocationRelativeTo</a:t>
            </a:r>
            <a:r>
              <a:rPr lang="en-US" sz="1400" b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b="0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null</a:t>
            </a:r>
            <a:r>
              <a:rPr lang="en-US" sz="1400" b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pPr marL="0" indent="0"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       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b="0" dirty="0" err="1">
                <a:solidFill>
                  <a:srgbClr val="795E26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setVisible</a:t>
            </a:r>
            <a:r>
              <a:rPr lang="en-US" sz="1400" b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b="0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true</a:t>
            </a:r>
            <a:r>
              <a:rPr lang="en-US" sz="1400" b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pPr marL="0" indent="0"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   }</a:t>
            </a:r>
          </a:p>
          <a:p>
            <a:pPr marL="0" indent="0"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sz="1400" b="0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public</a:t>
            </a:r>
            <a:r>
              <a:rPr lang="en-US" sz="1400" b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>
                <a:solidFill>
                  <a:srgbClr val="267F9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void</a:t>
            </a:r>
            <a:r>
              <a:rPr lang="en-US" sz="1400" b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 err="1">
                <a:solidFill>
                  <a:srgbClr val="795E26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createUI</a:t>
            </a:r>
            <a:r>
              <a:rPr lang="en-US" sz="1400" b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b="0" dirty="0" err="1">
                <a:solidFill>
                  <a:srgbClr val="267F9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JFrame</a:t>
            </a:r>
            <a:r>
              <a:rPr lang="en-US" sz="1400" b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>
                <a:solidFill>
                  <a:srgbClr val="00108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1400" b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){</a:t>
            </a:r>
          </a:p>
          <a:p>
            <a:pPr marL="0" indent="0"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        </a:t>
            </a:r>
            <a:r>
              <a:rPr lang="en-US" sz="1400" b="0" dirty="0" err="1">
                <a:solidFill>
                  <a:srgbClr val="267F9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JPanel</a:t>
            </a:r>
            <a:r>
              <a:rPr lang="en-US" sz="1400" b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>
                <a:solidFill>
                  <a:srgbClr val="00108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1400" b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400" b="0" dirty="0">
                <a:solidFill>
                  <a:srgbClr val="AF00D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new</a:t>
            </a:r>
            <a:r>
              <a:rPr lang="en-US" sz="1400" b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 err="1">
                <a:solidFill>
                  <a:srgbClr val="795E26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JPanel</a:t>
            </a:r>
            <a:r>
              <a:rPr lang="en-US" sz="1400" b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</a:p>
          <a:p>
            <a:pPr marL="0" indent="0"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        </a:t>
            </a:r>
            <a:r>
              <a:rPr lang="en-US" sz="1400" b="0" dirty="0">
                <a:solidFill>
                  <a:srgbClr val="267F9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Border</a:t>
            </a:r>
            <a:r>
              <a:rPr lang="en-US" sz="1400" b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blackLine</a:t>
            </a:r>
            <a:r>
              <a:rPr lang="en-US" sz="1400" b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400" b="0" dirty="0" err="1">
                <a:solidFill>
                  <a:srgbClr val="267F9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BorderFactory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b="0" dirty="0" err="1">
                <a:solidFill>
                  <a:srgbClr val="795E26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createLineBorder</a:t>
            </a:r>
            <a:r>
              <a:rPr lang="en-US" sz="1400" b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b="0" dirty="0" err="1">
                <a:solidFill>
                  <a:srgbClr val="267F9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Color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b="0" dirty="0" err="1">
                <a:solidFill>
                  <a:srgbClr val="0070C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BLACK</a:t>
            </a:r>
            <a:r>
              <a:rPr lang="en-US" sz="1400" b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pPr marL="0" indent="0"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        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b="0" dirty="0" err="1">
                <a:solidFill>
                  <a:srgbClr val="795E26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setBounds</a:t>
            </a:r>
            <a:r>
              <a:rPr lang="en-US" sz="1400" b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b="0" dirty="0">
                <a:solidFill>
                  <a:srgbClr val="09865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50</a:t>
            </a:r>
            <a:r>
              <a:rPr lang="en-US" sz="1400" b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1400" b="0" dirty="0">
                <a:solidFill>
                  <a:srgbClr val="09865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100</a:t>
            </a:r>
            <a:r>
              <a:rPr lang="en-US" sz="1400" b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1400" b="0" dirty="0">
                <a:solidFill>
                  <a:srgbClr val="09865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300</a:t>
            </a:r>
            <a:r>
              <a:rPr lang="en-US" sz="1400" b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1400" b="0" dirty="0">
                <a:solidFill>
                  <a:srgbClr val="09865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100</a:t>
            </a:r>
            <a:r>
              <a:rPr lang="en-US" sz="1400" b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pPr marL="0" indent="0"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        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b="0" dirty="0" err="1">
                <a:solidFill>
                  <a:srgbClr val="795E26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setBackground</a:t>
            </a:r>
            <a:r>
              <a:rPr lang="en-US" sz="1400" b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b="0" dirty="0" err="1">
                <a:solidFill>
                  <a:srgbClr val="267F9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Color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b="0" dirty="0" err="1">
                <a:solidFill>
                  <a:srgbClr val="0070C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cyan</a:t>
            </a:r>
            <a:r>
              <a:rPr lang="en-US" sz="1400" b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pPr marL="0" indent="0"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        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b="0" dirty="0" err="1">
                <a:solidFill>
                  <a:srgbClr val="795E26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add</a:t>
            </a:r>
            <a:r>
              <a:rPr lang="en-US" sz="1400" b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b="0" dirty="0">
                <a:solidFill>
                  <a:srgbClr val="AF00D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new</a:t>
            </a:r>
            <a:r>
              <a:rPr lang="en-US" sz="1400" b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 err="1">
                <a:solidFill>
                  <a:srgbClr val="795E26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JLabel</a:t>
            </a:r>
            <a:r>
              <a:rPr lang="en-US" sz="1400" b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b="0" dirty="0">
                <a:solidFill>
                  <a:srgbClr val="A315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"hello </a:t>
            </a:r>
            <a:r>
              <a:rPr lang="en-US" sz="1400" b="0" dirty="0" err="1">
                <a:solidFill>
                  <a:srgbClr val="A315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400" b="0" dirty="0">
                <a:solidFill>
                  <a:srgbClr val="A315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am java Programming"</a:t>
            </a:r>
            <a:r>
              <a:rPr lang="en-US" sz="1400" b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));</a:t>
            </a:r>
          </a:p>
          <a:p>
            <a:pPr marL="0" indent="0"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        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b="0" dirty="0" err="1">
                <a:solidFill>
                  <a:srgbClr val="795E26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setBorder</a:t>
            </a:r>
            <a:r>
              <a:rPr lang="en-US" sz="1400" b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blackLine</a:t>
            </a:r>
            <a:r>
              <a:rPr lang="en-US" sz="1400" b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pPr marL="0" indent="0"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        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b="0" dirty="0" err="1">
                <a:solidFill>
                  <a:srgbClr val="795E26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add</a:t>
            </a:r>
            <a:r>
              <a:rPr lang="en-US" sz="1400" b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b="0" dirty="0">
                <a:solidFill>
                  <a:srgbClr val="00108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1400" b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pPr marL="0" indent="0"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   }</a:t>
            </a:r>
          </a:p>
          <a:p>
            <a:pPr marL="0" indent="0"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sz="1400" b="0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public</a:t>
            </a:r>
            <a:r>
              <a:rPr lang="en-US" sz="1400" b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static</a:t>
            </a:r>
            <a:r>
              <a:rPr lang="en-US" sz="1400" b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>
                <a:solidFill>
                  <a:srgbClr val="267F9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void</a:t>
            </a:r>
            <a:r>
              <a:rPr lang="en-US" sz="1400" b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>
                <a:solidFill>
                  <a:srgbClr val="795E26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main</a:t>
            </a:r>
            <a:r>
              <a:rPr lang="en-US" sz="1400" b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b="0" dirty="0">
                <a:solidFill>
                  <a:srgbClr val="267F9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String</a:t>
            </a:r>
            <a:r>
              <a:rPr lang="en-US" sz="1400" b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[] 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args</a:t>
            </a:r>
            <a:r>
              <a:rPr lang="en-US" sz="1400" b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 {</a:t>
            </a:r>
          </a:p>
          <a:p>
            <a:pPr marL="0" indent="0"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       </a:t>
            </a:r>
            <a:r>
              <a:rPr lang="en-US" sz="1400" b="0" dirty="0">
                <a:solidFill>
                  <a:srgbClr val="AF00D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new</a:t>
            </a:r>
            <a:r>
              <a:rPr lang="en-US" sz="1400" b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 err="1">
                <a:solidFill>
                  <a:srgbClr val="795E26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BorderToPanel</a:t>
            </a:r>
            <a:r>
              <a:rPr lang="en-US" sz="1400" b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</a:p>
          <a:p>
            <a:pPr marL="0" indent="0"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   }</a:t>
            </a:r>
          </a:p>
          <a:p>
            <a:pPr marL="0" indent="0"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marL="0" indent="0">
              <a:buNone/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721686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830048-0235-4723-47F6-8EDC9220DB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53340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JSlider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470484-8C70-997A-4018-CE24288AFC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609600"/>
            <a:ext cx="8763000" cy="5973762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import</a:t>
            </a:r>
            <a:r>
              <a:rPr lang="en-US" b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dirty="0" err="1">
                <a:solidFill>
                  <a:srgbClr val="267F9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javax</a:t>
            </a:r>
            <a:r>
              <a:rPr lang="en-US" b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b="0" dirty="0" err="1">
                <a:solidFill>
                  <a:srgbClr val="267F9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swing</a:t>
            </a:r>
            <a:r>
              <a:rPr lang="en-US" b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.*;  </a:t>
            </a:r>
          </a:p>
          <a:p>
            <a:pPr marL="0" indent="0"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public</a:t>
            </a:r>
            <a:r>
              <a:rPr lang="en-US" b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en-US" b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dirty="0">
                <a:solidFill>
                  <a:srgbClr val="267F9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SliderExample1</a:t>
            </a:r>
            <a:r>
              <a:rPr lang="en-US" b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extends</a:t>
            </a:r>
            <a:r>
              <a:rPr lang="en-US" b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dirty="0" err="1">
                <a:solidFill>
                  <a:srgbClr val="267F9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JFrame</a:t>
            </a:r>
            <a:r>
              <a:rPr lang="en-US" b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{  </a:t>
            </a:r>
          </a:p>
          <a:p>
            <a:pPr marL="0" indent="0"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public</a:t>
            </a:r>
            <a:r>
              <a:rPr lang="en-US" b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dirty="0">
                <a:solidFill>
                  <a:srgbClr val="795E26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SliderExample1</a:t>
            </a:r>
            <a:r>
              <a:rPr lang="en-US" b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() {  </a:t>
            </a:r>
          </a:p>
          <a:p>
            <a:pPr marL="0" indent="0">
              <a:buNone/>
            </a:pPr>
            <a:r>
              <a:rPr lang="en-US" b="0" dirty="0">
                <a:solidFill>
                  <a:srgbClr val="267F9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JSlider</a:t>
            </a:r>
            <a:r>
              <a:rPr lang="en-US" b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dirty="0">
                <a:solidFill>
                  <a:srgbClr val="00108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slider</a:t>
            </a:r>
            <a:r>
              <a:rPr lang="en-US" b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b="0" dirty="0">
                <a:solidFill>
                  <a:srgbClr val="AF00D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new</a:t>
            </a:r>
            <a:r>
              <a:rPr lang="en-US" b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dirty="0">
                <a:solidFill>
                  <a:srgbClr val="795E26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JSlider</a:t>
            </a:r>
            <a:r>
              <a:rPr lang="en-US" b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b="0" dirty="0" err="1">
                <a:solidFill>
                  <a:srgbClr val="267F9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JSlider</a:t>
            </a:r>
            <a:r>
              <a:rPr lang="en-US" b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b="0" dirty="0" err="1">
                <a:solidFill>
                  <a:srgbClr val="0070C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HORIZONTAL</a:t>
            </a:r>
            <a:r>
              <a:rPr lang="en-US" b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0" dirty="0">
                <a:solidFill>
                  <a:srgbClr val="09865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0" dirty="0">
                <a:solidFill>
                  <a:srgbClr val="09865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50</a:t>
            </a:r>
            <a:r>
              <a:rPr lang="en-US" b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0" dirty="0">
                <a:solidFill>
                  <a:srgbClr val="09865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25</a:t>
            </a:r>
            <a:r>
              <a:rPr lang="en-US" b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);  </a:t>
            </a:r>
          </a:p>
          <a:p>
            <a:pPr marL="0" indent="0">
              <a:buNone/>
            </a:pPr>
            <a:r>
              <a:rPr lang="en-US" b="0" dirty="0">
                <a:solidFill>
                  <a:srgbClr val="267F9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b="0" dirty="0" err="1">
                <a:solidFill>
                  <a:srgbClr val="267F9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JPanel</a:t>
            </a:r>
            <a:r>
              <a:rPr lang="en-US" b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dirty="0">
                <a:solidFill>
                  <a:srgbClr val="00108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panel</a:t>
            </a:r>
            <a:r>
              <a:rPr lang="en-US" b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b="0" dirty="0">
                <a:solidFill>
                  <a:srgbClr val="AF00D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new</a:t>
            </a:r>
            <a:r>
              <a:rPr lang="en-US" b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dirty="0" err="1">
                <a:solidFill>
                  <a:srgbClr val="795E26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JPanel</a:t>
            </a:r>
            <a:r>
              <a:rPr lang="en-US" b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();  </a:t>
            </a:r>
          </a:p>
          <a:p>
            <a:pPr marL="0" indent="0">
              <a:buNone/>
            </a:pPr>
            <a:r>
              <a:rPr lang="en-US" b="0" dirty="0">
                <a:solidFill>
                  <a:srgbClr val="00108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b="0" dirty="0" err="1">
                <a:solidFill>
                  <a:srgbClr val="00108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panel</a:t>
            </a:r>
            <a:r>
              <a:rPr lang="en-US" b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b="0" dirty="0" err="1">
                <a:solidFill>
                  <a:srgbClr val="795E26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add</a:t>
            </a:r>
            <a:r>
              <a:rPr lang="en-US" b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b="0" dirty="0">
                <a:solidFill>
                  <a:srgbClr val="00108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slider</a:t>
            </a:r>
            <a:r>
              <a:rPr lang="en-US" b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);  </a:t>
            </a:r>
          </a:p>
          <a:p>
            <a:pPr marL="0" indent="0">
              <a:buNone/>
            </a:pPr>
            <a:r>
              <a:rPr lang="en-US" b="0" dirty="0">
                <a:solidFill>
                  <a:srgbClr val="795E26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add</a:t>
            </a:r>
            <a:r>
              <a:rPr lang="en-US" b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b="0" dirty="0">
                <a:solidFill>
                  <a:srgbClr val="00108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panel</a:t>
            </a:r>
            <a:r>
              <a:rPr lang="en-US" b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);  </a:t>
            </a:r>
          </a:p>
          <a:p>
            <a:pPr marL="0" indent="0"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}   </a:t>
            </a:r>
          </a:p>
          <a:p>
            <a:pPr marL="0" indent="0"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public</a:t>
            </a:r>
            <a:r>
              <a:rPr lang="en-US" b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static</a:t>
            </a:r>
            <a:r>
              <a:rPr lang="en-US" b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dirty="0">
                <a:solidFill>
                  <a:srgbClr val="267F9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dirty="0">
                <a:solidFill>
                  <a:srgbClr val="795E26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main</a:t>
            </a:r>
            <a:r>
              <a:rPr lang="en-US" b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b="0" dirty="0">
                <a:solidFill>
                  <a:srgbClr val="267F9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String</a:t>
            </a:r>
            <a:r>
              <a:rPr lang="en-US" b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dirty="0">
                <a:solidFill>
                  <a:srgbClr val="00108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b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[]) {  </a:t>
            </a:r>
          </a:p>
          <a:p>
            <a:pPr marL="0" indent="0">
              <a:buNone/>
            </a:pPr>
            <a:r>
              <a:rPr lang="en-US" b="0" dirty="0">
                <a:solidFill>
                  <a:srgbClr val="267F9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SliderExample1</a:t>
            </a:r>
            <a:r>
              <a:rPr lang="en-US" b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dirty="0">
                <a:solidFill>
                  <a:srgbClr val="00108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frame</a:t>
            </a:r>
            <a:r>
              <a:rPr lang="en-US" b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b="0" dirty="0">
                <a:solidFill>
                  <a:srgbClr val="AF00D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new</a:t>
            </a:r>
            <a:r>
              <a:rPr lang="en-US" b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dirty="0">
                <a:solidFill>
                  <a:srgbClr val="795E26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SliderExample1</a:t>
            </a:r>
            <a:r>
              <a:rPr lang="en-US" b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();  </a:t>
            </a:r>
          </a:p>
          <a:p>
            <a:pPr marL="0" indent="0">
              <a:buNone/>
            </a:pPr>
            <a:r>
              <a:rPr lang="en-US" b="0" dirty="0">
                <a:solidFill>
                  <a:srgbClr val="00108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b="0" dirty="0" err="1">
                <a:solidFill>
                  <a:srgbClr val="00108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frame</a:t>
            </a:r>
            <a:r>
              <a:rPr lang="en-US" b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b="0" dirty="0" err="1">
                <a:solidFill>
                  <a:srgbClr val="795E26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pack</a:t>
            </a:r>
            <a:r>
              <a:rPr lang="en-US" b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();  </a:t>
            </a:r>
          </a:p>
          <a:p>
            <a:pPr marL="0" indent="0">
              <a:buNone/>
            </a:pPr>
            <a:r>
              <a:rPr lang="en-US" b="0" dirty="0">
                <a:solidFill>
                  <a:srgbClr val="00108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b="0" dirty="0" err="1">
                <a:solidFill>
                  <a:srgbClr val="00108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frame</a:t>
            </a:r>
            <a:r>
              <a:rPr lang="en-US" b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b="0" dirty="0" err="1">
                <a:solidFill>
                  <a:srgbClr val="795E26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setVisible</a:t>
            </a:r>
            <a:r>
              <a:rPr lang="en-US" b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b="0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true</a:t>
            </a:r>
            <a:r>
              <a:rPr lang="en-US" b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);  </a:t>
            </a:r>
          </a:p>
          <a:p>
            <a:pPr marL="0" indent="0"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}  </a:t>
            </a:r>
          </a:p>
          <a:p>
            <a:pPr marL="0" indent="0"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}  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837991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EBB708-2450-EAD3-E36B-DDBB6F0F7D4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0" y="76200"/>
            <a:ext cx="8839200" cy="6553200"/>
          </a:xfrm>
        </p:spPr>
        <p:txBody>
          <a:bodyPr>
            <a:normAutofit fontScale="62500" lnSpcReduction="20000"/>
          </a:bodyPr>
          <a:lstStyle/>
          <a:p>
            <a:pPr marL="0" indent="0" algn="l">
              <a:buNone/>
            </a:pPr>
            <a:endParaRPr lang="en-US" i="0" strike="noStrike" dirty="0">
              <a:effectLst/>
              <a:latin typeface="verdana" panose="020B0604030504040204" pitchFamily="34" charset="0"/>
              <a:hlinkClick r:id="rId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algn="l">
              <a:buFont typeface="Wingdings" panose="05000000000000000000" pitchFamily="2" charset="2"/>
              <a:buChar char="Ø"/>
            </a:pPr>
            <a:r>
              <a:rPr lang="en-US" i="0" strike="noStrike" dirty="0">
                <a:effectLst/>
                <a:latin typeface="verdana" panose="020B0604030504040204" pitchFamily="34" charset="0"/>
              </a:rPr>
              <a:t>JButtonJava </a:t>
            </a:r>
            <a:r>
              <a:rPr lang="en-US" i="0" strike="noStrike" dirty="0" err="1">
                <a:effectLst/>
                <a:latin typeface="verdana" panose="020B0604030504040204" pitchFamily="34" charset="0"/>
              </a:rPr>
              <a:t>JLabel</a:t>
            </a:r>
            <a:r>
              <a:rPr lang="en-US" i="0" strike="noStrike" dirty="0">
                <a:effectLst/>
                <a:latin typeface="verdana" panose="020B0604030504040204" pitchFamily="34" charset="0"/>
              </a:rPr>
              <a:t> </a:t>
            </a:r>
          </a:p>
          <a:p>
            <a:pPr algn="l">
              <a:buFont typeface="Wingdings" panose="05000000000000000000" pitchFamily="2" charset="2"/>
              <a:buChar char="Ø"/>
            </a:pPr>
            <a:r>
              <a:rPr lang="en-US" i="0" strike="noStrike" dirty="0" err="1">
                <a:effectLst/>
                <a:latin typeface="verdana" panose="020B0604030504040204" pitchFamily="34" charset="0"/>
              </a:rPr>
              <a:t>JTextField</a:t>
            </a:r>
            <a:r>
              <a:rPr lang="en-US" i="0" strike="noStrike" dirty="0">
                <a:effectLst/>
                <a:latin typeface="verdana" panose="020B0604030504040204" pitchFamily="34" charset="0"/>
              </a:rPr>
              <a:t> </a:t>
            </a:r>
          </a:p>
          <a:p>
            <a:pPr algn="l">
              <a:buFont typeface="Wingdings" panose="05000000000000000000" pitchFamily="2" charset="2"/>
              <a:buChar char="Ø"/>
            </a:pPr>
            <a:r>
              <a:rPr lang="en-US" i="0" strike="noStrike" dirty="0" err="1">
                <a:effectLst/>
                <a:latin typeface="verdana" panose="020B0604030504040204" pitchFamily="34" charset="0"/>
              </a:rPr>
              <a:t>JTextArea</a:t>
            </a:r>
            <a:endParaRPr lang="en-US" dirty="0">
              <a:latin typeface="verdana" panose="020B0604030504040204" pitchFamily="34" charset="0"/>
            </a:endParaRPr>
          </a:p>
          <a:p>
            <a:pPr algn="l">
              <a:buFont typeface="Wingdings" panose="05000000000000000000" pitchFamily="2" charset="2"/>
              <a:buChar char="Ø"/>
            </a:pPr>
            <a:r>
              <a:rPr lang="en-US" i="0" strike="noStrike" dirty="0" err="1">
                <a:effectLst/>
                <a:latin typeface="verdana" panose="020B0604030504040204" pitchFamily="34" charset="0"/>
              </a:rPr>
              <a:t>JPasswordField</a:t>
            </a:r>
            <a:r>
              <a:rPr lang="en-US" i="0" strike="noStrike" dirty="0">
                <a:effectLst/>
                <a:latin typeface="verdana" panose="020B0604030504040204" pitchFamily="34" charset="0"/>
              </a:rPr>
              <a:t> </a:t>
            </a:r>
          </a:p>
          <a:p>
            <a:pPr algn="l">
              <a:buFont typeface="Wingdings" panose="05000000000000000000" pitchFamily="2" charset="2"/>
              <a:buChar char="Ø"/>
            </a:pPr>
            <a:r>
              <a:rPr lang="en-US" i="0" strike="noStrike" dirty="0" err="1">
                <a:effectLst/>
                <a:latin typeface="verdana" panose="020B0604030504040204" pitchFamily="34" charset="0"/>
              </a:rPr>
              <a:t>JCheckBox</a:t>
            </a:r>
            <a:endParaRPr lang="en-US" dirty="0">
              <a:latin typeface="verdana" panose="020B0604030504040204" pitchFamily="34" charset="0"/>
            </a:endParaRPr>
          </a:p>
          <a:p>
            <a:pPr algn="l">
              <a:buFont typeface="Wingdings" panose="05000000000000000000" pitchFamily="2" charset="2"/>
              <a:buChar char="Ø"/>
            </a:pPr>
            <a:r>
              <a:rPr lang="en-US" i="0" strike="noStrike" dirty="0">
                <a:effectLst/>
                <a:latin typeface="verdana" panose="020B0604030504040204" pitchFamily="34" charset="0"/>
              </a:rPr>
              <a:t> </a:t>
            </a:r>
            <a:r>
              <a:rPr lang="en-US" i="0" strike="noStrike" dirty="0" err="1">
                <a:effectLst/>
                <a:latin typeface="verdana" panose="020B0604030504040204" pitchFamily="34" charset="0"/>
              </a:rPr>
              <a:t>JRadioButton</a:t>
            </a:r>
            <a:endParaRPr lang="en-US" dirty="0">
              <a:latin typeface="verdana" panose="020B0604030504040204" pitchFamily="34" charset="0"/>
            </a:endParaRPr>
          </a:p>
          <a:p>
            <a:pPr algn="l">
              <a:buFont typeface="Wingdings" panose="05000000000000000000" pitchFamily="2" charset="2"/>
              <a:buChar char="Ø"/>
            </a:pPr>
            <a:r>
              <a:rPr lang="en-US" i="0" strike="noStrike" dirty="0">
                <a:effectLst/>
                <a:latin typeface="verdana" panose="020B0604030504040204" pitchFamily="34" charset="0"/>
              </a:rPr>
              <a:t> </a:t>
            </a:r>
            <a:r>
              <a:rPr lang="en-US" i="0" strike="noStrike" dirty="0" err="1">
                <a:effectLst/>
                <a:latin typeface="verdana" panose="020B0604030504040204" pitchFamily="34" charset="0"/>
              </a:rPr>
              <a:t>JComboBox</a:t>
            </a:r>
            <a:endParaRPr lang="en-US" dirty="0">
              <a:latin typeface="verdana" panose="020B0604030504040204" pitchFamily="34" charset="0"/>
            </a:endParaRPr>
          </a:p>
          <a:p>
            <a:pPr algn="l">
              <a:buFont typeface="Wingdings" panose="05000000000000000000" pitchFamily="2" charset="2"/>
              <a:buChar char="Ø"/>
            </a:pPr>
            <a:r>
              <a:rPr lang="en-US" i="0" strike="noStrike" dirty="0">
                <a:effectLst/>
                <a:latin typeface="verdana" panose="020B0604030504040204" pitchFamily="34" charset="0"/>
              </a:rPr>
              <a:t> </a:t>
            </a:r>
            <a:r>
              <a:rPr lang="en-US" i="0" strike="noStrike" dirty="0" err="1">
                <a:effectLst/>
                <a:latin typeface="verdana" panose="020B0604030504040204" pitchFamily="34" charset="0"/>
              </a:rPr>
              <a:t>JTableJava</a:t>
            </a:r>
            <a:r>
              <a:rPr lang="en-US" i="0" strike="noStrike" dirty="0">
                <a:effectLst/>
                <a:latin typeface="verdana" panose="020B0604030504040204" pitchFamily="34" charset="0"/>
              </a:rPr>
              <a:t> </a:t>
            </a:r>
            <a:r>
              <a:rPr lang="en-US" i="0" strike="noStrike" dirty="0" err="1">
                <a:effectLst/>
                <a:latin typeface="verdana" panose="020B0604030504040204" pitchFamily="34" charset="0"/>
              </a:rPr>
              <a:t>Jlist</a:t>
            </a:r>
            <a:endParaRPr lang="en-US" dirty="0">
              <a:latin typeface="verdana" panose="020B0604030504040204" pitchFamily="34" charset="0"/>
            </a:endParaRPr>
          </a:p>
          <a:p>
            <a:pPr algn="l">
              <a:buFont typeface="Wingdings" panose="05000000000000000000" pitchFamily="2" charset="2"/>
              <a:buChar char="Ø"/>
            </a:pPr>
            <a:r>
              <a:rPr lang="en-US" i="0" strike="noStrike" dirty="0" err="1">
                <a:effectLst/>
                <a:latin typeface="verdana" panose="020B0604030504040204" pitchFamily="34" charset="0"/>
              </a:rPr>
              <a:t>JOptionPane</a:t>
            </a:r>
            <a:r>
              <a:rPr lang="en-US" i="0" strike="noStrike" dirty="0">
                <a:effectLst/>
                <a:latin typeface="verdana" panose="020B0604030504040204" pitchFamily="34" charset="0"/>
              </a:rPr>
              <a:t> </a:t>
            </a:r>
          </a:p>
          <a:p>
            <a:pPr algn="l">
              <a:buFont typeface="Wingdings" panose="05000000000000000000" pitchFamily="2" charset="2"/>
              <a:buChar char="Ø"/>
            </a:pPr>
            <a:r>
              <a:rPr lang="en-US" i="0" strike="noStrike" dirty="0" err="1">
                <a:effectLst/>
                <a:latin typeface="verdana" panose="020B0604030504040204" pitchFamily="34" charset="0"/>
              </a:rPr>
              <a:t>JScrollBar</a:t>
            </a:r>
            <a:endParaRPr lang="en-US" dirty="0">
              <a:latin typeface="verdana" panose="020B0604030504040204" pitchFamily="34" charset="0"/>
            </a:endParaRPr>
          </a:p>
          <a:p>
            <a:pPr algn="l">
              <a:buFont typeface="Wingdings" panose="05000000000000000000" pitchFamily="2" charset="2"/>
              <a:buChar char="Ø"/>
            </a:pPr>
            <a:r>
              <a:rPr lang="en-US" i="0" strike="noStrike" dirty="0" err="1">
                <a:effectLst/>
                <a:latin typeface="verdana" panose="020B0604030504040204" pitchFamily="34" charset="0"/>
              </a:rPr>
              <a:t>JMenuItem</a:t>
            </a:r>
            <a:r>
              <a:rPr lang="en-US" i="0" strike="noStrike" dirty="0">
                <a:effectLst/>
                <a:latin typeface="verdana" panose="020B0604030504040204" pitchFamily="34" charset="0"/>
              </a:rPr>
              <a:t> &amp; </a:t>
            </a:r>
            <a:r>
              <a:rPr lang="en-US" i="0" strike="noStrike" dirty="0" err="1">
                <a:effectLst/>
                <a:latin typeface="verdana" panose="020B0604030504040204" pitchFamily="34" charset="0"/>
              </a:rPr>
              <a:t>JMenu</a:t>
            </a:r>
            <a:r>
              <a:rPr lang="en-US" i="0" strike="noStrike" dirty="0">
                <a:effectLst/>
                <a:latin typeface="verdana" panose="020B0604030504040204" pitchFamily="34" charset="0"/>
              </a:rPr>
              <a:t> </a:t>
            </a:r>
          </a:p>
          <a:p>
            <a:pPr algn="l">
              <a:buFont typeface="Wingdings" panose="05000000000000000000" pitchFamily="2" charset="2"/>
              <a:buChar char="Ø"/>
            </a:pPr>
            <a:r>
              <a:rPr lang="en-US" i="0" strike="noStrike" dirty="0" err="1">
                <a:effectLst/>
                <a:latin typeface="verdana" panose="020B0604030504040204" pitchFamily="34" charset="0"/>
              </a:rPr>
              <a:t>JPopupMenu</a:t>
            </a:r>
            <a:r>
              <a:rPr lang="en-US" i="0" strike="noStrike" dirty="0">
                <a:effectLst/>
                <a:latin typeface="verdana" panose="020B0604030504040204" pitchFamily="34" charset="0"/>
              </a:rPr>
              <a:t> </a:t>
            </a:r>
          </a:p>
          <a:p>
            <a:pPr algn="l">
              <a:buFont typeface="Wingdings" panose="05000000000000000000" pitchFamily="2" charset="2"/>
              <a:buChar char="Ø"/>
            </a:pPr>
            <a:r>
              <a:rPr lang="en-US" i="0" strike="noStrike" dirty="0" err="1">
                <a:effectLst/>
                <a:latin typeface="verdana" panose="020B0604030504040204" pitchFamily="34" charset="0"/>
              </a:rPr>
              <a:t>JCheckBoxMenuItem</a:t>
            </a:r>
            <a:r>
              <a:rPr lang="en-US" i="0" strike="noStrike" dirty="0">
                <a:effectLst/>
                <a:latin typeface="verdana" panose="020B0604030504040204" pitchFamily="34" charset="0"/>
              </a:rPr>
              <a:t> </a:t>
            </a:r>
          </a:p>
          <a:p>
            <a:pPr algn="l">
              <a:buFont typeface="Wingdings" panose="05000000000000000000" pitchFamily="2" charset="2"/>
              <a:buChar char="Ø"/>
            </a:pPr>
            <a:r>
              <a:rPr lang="en-US" i="0" strike="noStrike" dirty="0" err="1">
                <a:effectLst/>
                <a:latin typeface="verdana" panose="020B0604030504040204" pitchFamily="34" charset="0"/>
              </a:rPr>
              <a:t>JSeparator</a:t>
            </a:r>
            <a:r>
              <a:rPr lang="en-US" i="0" strike="noStrike" dirty="0">
                <a:effectLst/>
                <a:latin typeface="verdana" panose="020B0604030504040204" pitchFamily="34" charset="0"/>
              </a:rPr>
              <a:t> </a:t>
            </a:r>
          </a:p>
          <a:p>
            <a:pPr algn="l">
              <a:buFont typeface="Wingdings" panose="05000000000000000000" pitchFamily="2" charset="2"/>
              <a:buChar char="Ø"/>
            </a:pPr>
            <a:r>
              <a:rPr lang="en-US" i="0" strike="noStrike" dirty="0" err="1">
                <a:effectLst/>
                <a:latin typeface="verdana" panose="020B0604030504040204" pitchFamily="34" charset="0"/>
              </a:rPr>
              <a:t>JProgressBar</a:t>
            </a:r>
            <a:r>
              <a:rPr lang="en-US" i="0" strike="noStrike" dirty="0">
                <a:effectLst/>
                <a:latin typeface="verdana" panose="020B0604030504040204" pitchFamily="34" charset="0"/>
              </a:rPr>
              <a:t> </a:t>
            </a:r>
          </a:p>
          <a:p>
            <a:pPr algn="l">
              <a:buFont typeface="Wingdings" panose="05000000000000000000" pitchFamily="2" charset="2"/>
              <a:buChar char="Ø"/>
            </a:pPr>
            <a:r>
              <a:rPr lang="en-US" i="0" strike="noStrike" dirty="0" err="1">
                <a:effectLst/>
                <a:latin typeface="verdana" panose="020B0604030504040204" pitchFamily="34" charset="0"/>
              </a:rPr>
              <a:t>JTree</a:t>
            </a:r>
            <a:r>
              <a:rPr lang="en-US" i="0" strike="noStrike" dirty="0">
                <a:effectLst/>
                <a:latin typeface="verdana" panose="020B0604030504040204" pitchFamily="34" charset="0"/>
              </a:rPr>
              <a:t> </a:t>
            </a:r>
          </a:p>
          <a:p>
            <a:pPr algn="l">
              <a:buFont typeface="Wingdings" panose="05000000000000000000" pitchFamily="2" charset="2"/>
              <a:buChar char="Ø"/>
            </a:pPr>
            <a:r>
              <a:rPr lang="en-US" i="0" strike="noStrike" dirty="0" err="1">
                <a:effectLst/>
                <a:latin typeface="verdana" panose="020B0604030504040204" pitchFamily="34" charset="0"/>
              </a:rPr>
              <a:t>JColorChooser</a:t>
            </a:r>
            <a:r>
              <a:rPr lang="en-US" i="0" strike="noStrike" dirty="0">
                <a:effectLst/>
                <a:latin typeface="verdana" panose="020B0604030504040204" pitchFamily="34" charset="0"/>
              </a:rPr>
              <a:t> </a:t>
            </a:r>
          </a:p>
          <a:p>
            <a:pPr algn="l">
              <a:buFont typeface="Wingdings" panose="05000000000000000000" pitchFamily="2" charset="2"/>
              <a:buChar char="Ø"/>
            </a:pPr>
            <a:r>
              <a:rPr lang="en-US" i="0" strike="noStrike" dirty="0" err="1">
                <a:effectLst/>
                <a:latin typeface="verdana" panose="020B0604030504040204" pitchFamily="34" charset="0"/>
              </a:rPr>
              <a:t>JTabbedPane</a:t>
            </a:r>
            <a:r>
              <a:rPr lang="en-US" i="0" strike="noStrike" dirty="0">
                <a:effectLst/>
                <a:latin typeface="verdana" panose="020B0604030504040204" pitchFamily="34" charset="0"/>
              </a:rPr>
              <a:t> </a:t>
            </a:r>
            <a:endParaRPr lang="en-US" i="0" strike="noStrike" dirty="0">
              <a:effectLst/>
              <a:latin typeface="verdana" panose="020B0604030504040204" pitchFamily="34" charset="0"/>
              <a:hlinkClick r:id="rId4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0" indent="0">
              <a:buNone/>
            </a:pPr>
            <a:br>
              <a:rPr lang="en-US" i="0" dirty="0">
                <a:effectLst/>
                <a:latin typeface="Times New Roman" panose="02020603050405020304" pitchFamily="18" charset="0"/>
              </a:rPr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112602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AA0144-8EB5-619E-C73C-984AD5500E02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0" y="228600"/>
            <a:ext cx="8610600" cy="6477000"/>
          </a:xfrm>
        </p:spPr>
        <p:txBody>
          <a:bodyPr>
            <a:normAutofit fontScale="70000" lnSpcReduction="20000"/>
          </a:bodyPr>
          <a:lstStyle/>
          <a:p>
            <a:pPr algn="l">
              <a:buFont typeface="Wingdings" panose="05000000000000000000" pitchFamily="2" charset="2"/>
              <a:buChar char="Ø"/>
            </a:pPr>
            <a:r>
              <a:rPr lang="en-US" i="0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JSlider </a:t>
            </a:r>
          </a:p>
          <a:p>
            <a:pPr algn="l">
              <a:buFont typeface="Wingdings" panose="05000000000000000000" pitchFamily="2" charset="2"/>
              <a:buChar char="Ø"/>
            </a:pPr>
            <a:r>
              <a:rPr lang="en-US" i="0" strike="noStrike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JSpinner</a:t>
            </a:r>
            <a:r>
              <a:rPr lang="en-US" i="0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l">
              <a:buFont typeface="Wingdings" panose="05000000000000000000" pitchFamily="2" charset="2"/>
              <a:buChar char="Ø"/>
            </a:pPr>
            <a:r>
              <a:rPr lang="en-US" i="0" strike="noStrike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JDialog</a:t>
            </a:r>
            <a:r>
              <a:rPr lang="en-US" i="0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l">
              <a:buFont typeface="Wingdings" panose="05000000000000000000" pitchFamily="2" charset="2"/>
              <a:buChar char="Ø"/>
            </a:pPr>
            <a:r>
              <a:rPr lang="en-US" i="0" strike="noStrike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JPanel</a:t>
            </a:r>
            <a:endParaRPr lang="en-US" b="0" i="0" u="none" strike="noStrike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Wingdings" panose="05000000000000000000" pitchFamily="2" charset="2"/>
              <a:buChar char="Ø"/>
            </a:pPr>
            <a:r>
              <a:rPr lang="en-US" b="0" i="0" u="none" strike="noStrike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JFileChooser</a:t>
            </a:r>
            <a:r>
              <a:rPr lang="en-US" b="0" i="0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l">
              <a:buFont typeface="Wingdings" panose="05000000000000000000" pitchFamily="2" charset="2"/>
              <a:buChar char="Ø"/>
            </a:pPr>
            <a:r>
              <a:rPr lang="en-US" b="0" i="0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JToggleButton </a:t>
            </a:r>
          </a:p>
          <a:p>
            <a:pPr algn="l">
              <a:buFont typeface="Wingdings" panose="05000000000000000000" pitchFamily="2" charset="2"/>
              <a:buChar char="Ø"/>
            </a:pPr>
            <a:r>
              <a:rPr lang="en-US" b="0" i="0" u="none" strike="noStrike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JToolBar</a:t>
            </a:r>
            <a:r>
              <a:rPr lang="en-US" b="0" i="0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l">
              <a:buFont typeface="Wingdings" panose="05000000000000000000" pitchFamily="2" charset="2"/>
              <a:buChar char="Ø"/>
            </a:pPr>
            <a:r>
              <a:rPr lang="en-US" b="0" i="0" u="none" strike="noStrike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JViewport</a:t>
            </a:r>
            <a:r>
              <a:rPr lang="en-US" b="0" i="0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l">
              <a:buFont typeface="Wingdings" panose="05000000000000000000" pitchFamily="2" charset="2"/>
              <a:buChar char="Ø"/>
            </a:pPr>
            <a:r>
              <a:rPr lang="en-US" b="0" i="0" u="none" strike="noStrike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JFrame</a:t>
            </a:r>
            <a:r>
              <a:rPr lang="en-US" b="0" i="0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l">
              <a:buFont typeface="Wingdings" panose="05000000000000000000" pitchFamily="2" charset="2"/>
              <a:buChar char="Ø"/>
            </a:pPr>
            <a:r>
              <a:rPr lang="en-US" b="0" i="0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JComponent </a:t>
            </a:r>
          </a:p>
          <a:p>
            <a:pPr algn="l">
              <a:buFont typeface="Wingdings" panose="05000000000000000000" pitchFamily="2" charset="2"/>
              <a:buChar char="Ø"/>
            </a:pPr>
            <a:r>
              <a:rPr lang="en-US" b="0" i="0" u="none" strike="noStrike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JLayeredPane</a:t>
            </a:r>
            <a:r>
              <a:rPr lang="en-US" b="0" i="0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l">
              <a:buFont typeface="Wingdings" panose="05000000000000000000" pitchFamily="2" charset="2"/>
              <a:buChar char="Ø"/>
            </a:pPr>
            <a:r>
              <a:rPr lang="en-US" b="0" i="0" u="none" strike="noStrike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JDesktopPane</a:t>
            </a:r>
            <a:r>
              <a:rPr lang="en-US" b="0" i="0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l">
              <a:buFont typeface="Wingdings" panose="05000000000000000000" pitchFamily="2" charset="2"/>
              <a:buChar char="Ø"/>
            </a:pPr>
            <a:r>
              <a:rPr lang="en-US" b="0" i="0" u="none" strike="noStrike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JEditorPane</a:t>
            </a:r>
            <a:r>
              <a:rPr lang="en-US" b="0" i="0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l">
              <a:buFont typeface="Wingdings" panose="05000000000000000000" pitchFamily="2" charset="2"/>
              <a:buChar char="Ø"/>
            </a:pPr>
            <a:r>
              <a:rPr lang="en-US" b="0" i="0" u="none" strike="noStrike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JScrollPane</a:t>
            </a:r>
            <a:r>
              <a:rPr lang="en-US" b="0" i="0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l">
              <a:buFont typeface="Wingdings" panose="05000000000000000000" pitchFamily="2" charset="2"/>
              <a:buChar char="Ø"/>
            </a:pPr>
            <a:r>
              <a:rPr lang="en-US" b="0" i="0" u="none" strike="noStrike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JSplitPane</a:t>
            </a:r>
            <a:r>
              <a:rPr lang="en-US" b="0" i="0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l">
              <a:buFont typeface="Wingdings" panose="05000000000000000000" pitchFamily="2" charset="2"/>
              <a:buChar char="Ø"/>
            </a:pPr>
            <a:r>
              <a:rPr lang="en-US" b="0" i="0" u="none" strike="noStrike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JTextPane</a:t>
            </a:r>
            <a:r>
              <a:rPr lang="en-US" b="0" i="0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l">
              <a:buFont typeface="Wingdings" panose="05000000000000000000" pitchFamily="2" charset="2"/>
              <a:buChar char="Ø"/>
            </a:pPr>
            <a:r>
              <a:rPr lang="en-US" b="0" i="0" u="none" strike="noStrike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JRootPane</a:t>
            </a:r>
            <a:endParaRPr lang="en-US" b="0" i="0" u="none" strike="noStrike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35439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629</TotalTime>
  <Words>1711</Words>
  <Application>Microsoft Office PowerPoint</Application>
  <PresentationFormat>On-screen Show (4:3)</PresentationFormat>
  <Paragraphs>321</Paragraphs>
  <Slides>27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5" baseType="lpstr">
      <vt:lpstr>Arial</vt:lpstr>
      <vt:lpstr>Calibri</vt:lpstr>
      <vt:lpstr>Consolas</vt:lpstr>
      <vt:lpstr>inter-regular</vt:lpstr>
      <vt:lpstr>Times New Roman</vt:lpstr>
      <vt:lpstr>verdana</vt:lpstr>
      <vt:lpstr>Wingdings</vt:lpstr>
      <vt:lpstr>Office Theme</vt:lpstr>
      <vt:lpstr> Unit 2: User Interface Components with Swing (10 Hrs.) </vt:lpstr>
      <vt:lpstr>2.3. GUI Controls:</vt:lpstr>
      <vt:lpstr>JTextField and JPasswordField</vt:lpstr>
      <vt:lpstr>JTextArea</vt:lpstr>
      <vt:lpstr>PowerPoint Presentation</vt:lpstr>
      <vt:lpstr>PowerPoint Presentation</vt:lpstr>
      <vt:lpstr>JTextArea: Example</vt:lpstr>
      <vt:lpstr>JButton</vt:lpstr>
      <vt:lpstr>PowerPoint Presentation</vt:lpstr>
      <vt:lpstr>Button Example: ImageIcon</vt:lpstr>
      <vt:lpstr>JLabel</vt:lpstr>
      <vt:lpstr>PowerPoint Presentation</vt:lpstr>
      <vt:lpstr>JCheckBox</vt:lpstr>
      <vt:lpstr>Constructors of JCheckBox</vt:lpstr>
      <vt:lpstr>JRadioButton</vt:lpstr>
      <vt:lpstr>PowerPoint Presentation</vt:lpstr>
      <vt:lpstr>JComboBox</vt:lpstr>
      <vt:lpstr>PowerPoint Presentation</vt:lpstr>
      <vt:lpstr>PowerPoint Presentation</vt:lpstr>
      <vt:lpstr>Example: JRadioButton, JCheckBox,JComboBox</vt:lpstr>
      <vt:lpstr>PowerPoint Presentation</vt:lpstr>
      <vt:lpstr>JScrollPane</vt:lpstr>
      <vt:lpstr>JScrollPane: Example</vt:lpstr>
      <vt:lpstr>Borders into JPanel</vt:lpstr>
      <vt:lpstr>JSlider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Unit2:</dc:title>
  <dc:creator>Prithvi</dc:creator>
  <cp:lastModifiedBy>prithvi paneru</cp:lastModifiedBy>
  <cp:revision>164</cp:revision>
  <dcterms:created xsi:type="dcterms:W3CDTF">2006-08-16T00:00:00Z</dcterms:created>
  <dcterms:modified xsi:type="dcterms:W3CDTF">2022-12-21T13:41:39Z</dcterms:modified>
</cp:coreProperties>
</file>